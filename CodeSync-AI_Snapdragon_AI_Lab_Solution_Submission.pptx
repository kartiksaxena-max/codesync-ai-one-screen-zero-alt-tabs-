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84048"/>
            <a:ext cx="7863840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900" b="1">
                <a:solidFill>
                  <a:srgbClr val="45DD91"/>
                </a:solidFill>
                <a:latin typeface="SF Mono"/>
              </a:rPr>
              <a:t>SNAPDRAGON® AI LAB  /  BUILD &amp; PRESENT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94944"/>
            <a:ext cx="3657600" cy="22860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100" b="1">
                <a:solidFill>
                  <a:srgbClr val="A5ADB8"/>
                </a:solidFill>
                <a:latin typeface="SF Mono"/>
              </a:rPr>
              <a:t>SOLUTION SUBMISSION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34440"/>
            <a:ext cx="5486400" cy="68580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4000" b="1">
                <a:solidFill>
                  <a:srgbClr val="F5F7FA"/>
                </a:solidFill>
                <a:latin typeface="SF Pro Display"/>
              </a:rPr>
              <a:t>CodeSync-AI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93392"/>
            <a:ext cx="5577840" cy="45720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2400" b="1">
                <a:solidFill>
                  <a:srgbClr val="45DD91"/>
                </a:solidFill>
                <a:latin typeface="SF Pro Display"/>
              </a:rPr>
              <a:t>One Screen. Zero Alt-Tabs.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87752"/>
            <a:ext cx="5303520" cy="91440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SF Pro Display"/>
              </a:rPr>
              <a:t>An offline coding classroom that preserves lesson context from instruction → code → practice → execution.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03320"/>
            <a:ext cx="1115568" cy="256032"/>
          </a:xfrm>
          <a:prstGeom prst="roundRect">
            <a:avLst>
              <a:gd name="adj" fmla="val 8000"/>
            </a:avLst>
          </a:prstGeom>
          <a:solidFill>
            <a:srgbClr val="12241D"/>
          </a:solidFill>
          <a:ln>
            <a:solidFill>
              <a:srgbClr val="122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744468"/>
            <a:ext cx="1115568" cy="146304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ctr"/>
            <a:r>
              <a:rPr sz="800" b="1">
                <a:solidFill>
                  <a:srgbClr val="45DD91"/>
                </a:solidFill>
                <a:latin typeface="SF Mono"/>
              </a:rPr>
              <a:t>OFFLINE-FIRST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4519" y="3703320"/>
            <a:ext cx="960120" cy="256032"/>
          </a:xfrm>
          <a:prstGeom prst="roundRect">
            <a:avLst>
              <a:gd name="adj" fmla="val 8000"/>
            </a:avLst>
          </a:prstGeom>
          <a:solidFill>
            <a:srgbClr val="121B2B"/>
          </a:solidFill>
          <a:ln>
            <a:solidFill>
              <a:srgbClr val="121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3744468"/>
            <a:ext cx="960120" cy="146304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ctr"/>
            <a:r>
              <a:rPr sz="800" b="1">
                <a:solidFill>
                  <a:srgbClr val="5AA0FF"/>
                </a:solidFill>
                <a:latin typeface="SF Mono"/>
              </a:rPr>
              <a:t>LOCAL OCR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44368" y="3703320"/>
            <a:ext cx="868680" cy="256032"/>
          </a:xfrm>
          <a:prstGeom prst="roundRect">
            <a:avLst>
              <a:gd name="adj" fmla="val 8000"/>
            </a:avLst>
          </a:prstGeom>
          <a:solidFill>
            <a:srgbClr val="2B2212"/>
          </a:solidFill>
          <a:ln>
            <a:solidFill>
              <a:srgbClr val="2B22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44368" y="3744468"/>
            <a:ext cx="868680" cy="146304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ctr"/>
            <a:r>
              <a:rPr sz="800" b="1">
                <a:solidFill>
                  <a:srgbClr val="F5BA48"/>
                </a:solidFill>
                <a:latin typeface="SF Mono"/>
              </a:rPr>
              <a:t>QNN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51960"/>
            <a:ext cx="1828800" cy="201168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900" b="1">
                <a:solidFill>
                  <a:srgbClr val="5B6470"/>
                </a:solidFill>
                <a:latin typeface="SF Mono"/>
              </a:rPr>
              <a:t>The product story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17136"/>
            <a:ext cx="5120640" cy="45720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900" b="1">
                <a:solidFill>
                  <a:srgbClr val="F5F7FA"/>
                </a:solidFill>
                <a:latin typeface="SF Pro Display"/>
              </a:rPr>
              <a:t>Keep the learner in the learning surface.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1078992"/>
            <a:ext cx="5440680" cy="4983480"/>
          </a:xfrm>
          <a:prstGeom prst="roundRect">
            <a:avLst>
              <a:gd name="adj" fmla="val 8000"/>
            </a:avLst>
          </a:prstGeom>
          <a:solidFill>
            <a:srgbClr val="14181E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3640" y="1261872"/>
            <a:ext cx="5074920" cy="347472"/>
          </a:xfrm>
          <a:prstGeom prst="roundRect">
            <a:avLst>
              <a:gd name="adj" fmla="val 8000"/>
            </a:avLst>
          </a:prstGeom>
          <a:solidFill>
            <a:srgbClr val="0B0E12"/>
          </a:solidFill>
          <a:ln>
            <a:solidFill>
              <a:srgbClr val="0B0E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1353312"/>
            <a:ext cx="1188720" cy="146304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900" b="1">
                <a:solidFill>
                  <a:srgbClr val="F5F7FA"/>
                </a:solidFill>
                <a:latin typeface="SF Mono"/>
              </a:rPr>
              <a:t>CodeSync-AI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78440" y="1316736"/>
            <a:ext cx="658368" cy="256032"/>
          </a:xfrm>
          <a:prstGeom prst="roundRect">
            <a:avLst>
              <a:gd name="adj" fmla="val 8000"/>
            </a:avLst>
          </a:prstGeom>
          <a:solidFill>
            <a:srgbClr val="12241D"/>
          </a:solidFill>
          <a:ln>
            <a:solidFill>
              <a:srgbClr val="122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78440" y="1357884"/>
            <a:ext cx="658368" cy="146304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ctr"/>
            <a:r>
              <a:rPr sz="700" b="1">
                <a:solidFill>
                  <a:srgbClr val="45DD91"/>
                </a:solidFill>
                <a:latin typeface="SF Mono"/>
              </a:rPr>
              <a:t>LOCAL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7648" y="1783080"/>
            <a:ext cx="2057400" cy="3931920"/>
          </a:xfrm>
          <a:prstGeom prst="roundRect">
            <a:avLst>
              <a:gd name="adj" fmla="val 8000"/>
            </a:avLst>
          </a:prstGeom>
          <a:solidFill>
            <a:srgbClr val="0F1217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1920239"/>
            <a:ext cx="329184" cy="329184"/>
          </a:xfrm>
          <a:prstGeom prst="ellipse">
            <a:avLst/>
          </a:prstGeom>
          <a:solidFill>
            <a:srgbClr val="181C22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9562" y="1963033"/>
            <a:ext cx="283098" cy="237012"/>
          </a:xfrm>
          <a:prstGeom prst="rect">
            <a:avLst/>
          </a:prstGeom>
          <a:noFill/>
        </p:spPr>
        <p:txBody>
          <a:bodyPr wrap="none" lIns="13716" rIns="13716" tIns="13716" bIns="13716" anchor="ctr">
            <a:spAutoFit/>
          </a:bodyPr>
          <a:lstStyle/>
          <a:p>
            <a:pPr algn="ctr"/>
            <a:r>
              <a:rPr sz="1200" b="1">
                <a:solidFill>
                  <a:srgbClr val="45DD91"/>
                </a:solidFill>
                <a:latin typeface="Arial"/>
              </a:rPr>
              <a:t>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1956816"/>
            <a:ext cx="1051560" cy="164592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900" b="1">
                <a:solidFill>
                  <a:srgbClr val="F5F7FA"/>
                </a:solidFill>
                <a:latin typeface="SF Mono"/>
              </a:rPr>
              <a:t>LESSON 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359152"/>
            <a:ext cx="1508760" cy="22860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300" b="1">
                <a:solidFill>
                  <a:srgbClr val="F5F7FA"/>
                </a:solidFill>
                <a:latin typeface="SF Pro Display"/>
              </a:rPr>
              <a:t>Functions &amp; loops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65392" y="2743200"/>
            <a:ext cx="1572768" cy="877824"/>
          </a:xfrm>
          <a:prstGeom prst="roundRect">
            <a:avLst>
              <a:gd name="adj" fmla="val 8000"/>
            </a:avLst>
          </a:prstGeom>
          <a:solidFill>
            <a:srgbClr val="1D222A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59168" y="2990088"/>
            <a:ext cx="594360" cy="27432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ctr"/>
            <a:r>
              <a:rPr sz="2000" b="1">
                <a:solidFill>
                  <a:srgbClr val="A5ADB8"/>
                </a:solidFill>
                <a:latin typeface="SF Pro Display"/>
              </a:rPr>
              <a:t>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1968" y="3456432"/>
            <a:ext cx="640080" cy="13716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800" b="0">
                <a:solidFill>
                  <a:srgbClr val="5B6470"/>
                </a:solidFill>
                <a:latin typeface="SF Mono"/>
              </a:rPr>
              <a:t>08:42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83680" y="3867912"/>
            <a:ext cx="1389888" cy="0"/>
          </a:xfrm>
          <a:prstGeom prst="line">
            <a:avLst/>
          </a:prstGeom>
          <a:ln w="25400">
            <a:solidFill>
              <a:srgbClr val="2D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583680" y="4142232"/>
            <a:ext cx="1389888" cy="0"/>
          </a:xfrm>
          <a:prstGeom prst="line">
            <a:avLst/>
          </a:prstGeom>
          <a:ln w="25400">
            <a:solidFill>
              <a:srgbClr val="2D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583680" y="4416552"/>
            <a:ext cx="1389888" cy="0"/>
          </a:xfrm>
          <a:prstGeom prst="line">
            <a:avLst/>
          </a:prstGeom>
          <a:ln w="25400">
            <a:solidFill>
              <a:srgbClr val="2D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583680" y="4690872"/>
            <a:ext cx="1389888" cy="0"/>
          </a:xfrm>
          <a:prstGeom prst="line">
            <a:avLst/>
          </a:prstGeom>
          <a:ln w="25400">
            <a:solidFill>
              <a:srgbClr val="2D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565392" y="5138928"/>
            <a:ext cx="1243584" cy="256032"/>
          </a:xfrm>
          <a:prstGeom prst="roundRect">
            <a:avLst>
              <a:gd name="adj" fmla="val 8000"/>
            </a:avLst>
          </a:prstGeom>
          <a:solidFill>
            <a:srgbClr val="121B2B"/>
          </a:solidFill>
          <a:ln>
            <a:solidFill>
              <a:srgbClr val="121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65392" y="5180076"/>
            <a:ext cx="1243584" cy="146304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ctr"/>
            <a:r>
              <a:rPr sz="700" b="1">
                <a:solidFill>
                  <a:srgbClr val="5AA0FF"/>
                </a:solidFill>
                <a:latin typeface="SF Mono"/>
              </a:rPr>
              <a:t>TIMESTAMP LINKED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31352" y="1783080"/>
            <a:ext cx="2697480" cy="3931920"/>
          </a:xfrm>
          <a:prstGeom prst="roundRect">
            <a:avLst>
              <a:gd name="adj" fmla="val 8000"/>
            </a:avLst>
          </a:prstGeom>
          <a:solidFill>
            <a:srgbClr val="0A0D11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59952" y="1956816"/>
            <a:ext cx="914400" cy="164592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900" b="1">
                <a:solidFill>
                  <a:srgbClr val="F5F7FA"/>
                </a:solidFill>
                <a:latin typeface="SF Mono"/>
              </a:rPr>
              <a:t>main.py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59952" y="2423160"/>
            <a:ext cx="411480" cy="164592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100" b="1">
                <a:solidFill>
                  <a:srgbClr val="5AA0FF"/>
                </a:solidFill>
                <a:latin typeface="SF Mono"/>
              </a:rPr>
              <a:t>def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71432" y="2423160"/>
            <a:ext cx="502920" cy="164592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100" b="1">
                <a:solidFill>
                  <a:srgbClr val="F5F7FA"/>
                </a:solidFill>
                <a:latin typeface="SF Mono"/>
              </a:rPr>
              <a:t>hello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74352" y="2423160"/>
            <a:ext cx="685800" cy="164592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SF Mono"/>
              </a:rPr>
              <a:t>(name):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59952" y="2724912"/>
            <a:ext cx="914400" cy="164592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100" b="0">
                <a:solidFill>
                  <a:srgbClr val="A5ADB8"/>
                </a:solidFill>
                <a:latin typeface="SF Mono"/>
              </a:rPr>
              <a:t>    return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74352" y="2724912"/>
            <a:ext cx="731520" cy="164592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100" b="0">
                <a:solidFill>
                  <a:srgbClr val="45DD91"/>
                </a:solidFill>
                <a:latin typeface="SF Mono"/>
              </a:rPr>
              <a:t>"Hello "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78440" y="2724912"/>
            <a:ext cx="640080" cy="164592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SF Mono"/>
              </a:rPr>
              <a:t>+ name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59952" y="3182112"/>
            <a:ext cx="804672" cy="256032"/>
          </a:xfrm>
          <a:prstGeom prst="roundRect">
            <a:avLst>
              <a:gd name="adj" fmla="val 8000"/>
            </a:avLst>
          </a:prstGeom>
          <a:solidFill>
            <a:srgbClr val="12241D"/>
          </a:solidFill>
          <a:ln>
            <a:solidFill>
              <a:srgbClr val="122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59952" y="3223260"/>
            <a:ext cx="804672" cy="146304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ctr"/>
            <a:r>
              <a:rPr sz="700" b="1">
                <a:solidFill>
                  <a:srgbClr val="45DD91"/>
                </a:solidFill>
                <a:latin typeface="SF Mono"/>
              </a:rPr>
              <a:t>OCR  10/10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076688" y="3749039"/>
            <a:ext cx="960120" cy="1463040"/>
          </a:xfrm>
          <a:prstGeom prst="roundRect">
            <a:avLst>
              <a:gd name="adj" fmla="val 8000"/>
            </a:avLst>
          </a:prstGeom>
          <a:solidFill>
            <a:srgbClr val="12161C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172700" y="3863339"/>
            <a:ext cx="228600" cy="228600"/>
          </a:xfrm>
          <a:prstGeom prst="ellipse">
            <a:avLst/>
          </a:prstGeom>
          <a:solidFill>
            <a:srgbClr val="181C22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88702" y="3893057"/>
            <a:ext cx="196596" cy="164592"/>
          </a:xfrm>
          <a:prstGeom prst="rect">
            <a:avLst/>
          </a:prstGeom>
          <a:noFill/>
        </p:spPr>
        <p:txBody>
          <a:bodyPr wrap="none" lIns="13716" rIns="13716" tIns="13716" bIns="13716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rial"/>
              </a:rPr>
              <a:t>⌾</a:t>
            </a:r>
          </a:p>
        </p:txBody>
      </p:sp>
      <p:sp>
        <p:nvSpPr>
          <p:cNvPr id="47" name="Oval 46"/>
          <p:cNvSpPr/>
          <p:nvPr/>
        </p:nvSpPr>
        <p:spPr>
          <a:xfrm>
            <a:off x="10172700" y="4174235"/>
            <a:ext cx="228600" cy="228600"/>
          </a:xfrm>
          <a:prstGeom prst="ellipse">
            <a:avLst/>
          </a:prstGeom>
          <a:solidFill>
            <a:srgbClr val="181C22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188702" y="4203953"/>
            <a:ext cx="196596" cy="164592"/>
          </a:xfrm>
          <a:prstGeom prst="rect">
            <a:avLst/>
          </a:prstGeom>
          <a:noFill/>
        </p:spPr>
        <p:txBody>
          <a:bodyPr wrap="none" lIns="13716" rIns="13716" tIns="13716" bIns="13716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rial"/>
              </a:rPr>
              <a:t>⌕</a:t>
            </a:r>
          </a:p>
        </p:txBody>
      </p:sp>
      <p:sp>
        <p:nvSpPr>
          <p:cNvPr id="49" name="Oval 48"/>
          <p:cNvSpPr/>
          <p:nvPr/>
        </p:nvSpPr>
        <p:spPr>
          <a:xfrm>
            <a:off x="10172700" y="4485131"/>
            <a:ext cx="228600" cy="228600"/>
          </a:xfrm>
          <a:prstGeom prst="ellipse">
            <a:avLst/>
          </a:prstGeom>
          <a:solidFill>
            <a:srgbClr val="181C22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188702" y="4514849"/>
            <a:ext cx="196596" cy="164592"/>
          </a:xfrm>
          <a:prstGeom prst="rect">
            <a:avLst/>
          </a:prstGeom>
          <a:noFill/>
        </p:spPr>
        <p:txBody>
          <a:bodyPr wrap="none" lIns="13716" rIns="13716" tIns="13716" bIns="13716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rial"/>
              </a:rPr>
              <a:t>✓</a:t>
            </a:r>
          </a:p>
        </p:txBody>
      </p:sp>
      <p:sp>
        <p:nvSpPr>
          <p:cNvPr id="51" name="Oval 50"/>
          <p:cNvSpPr/>
          <p:nvPr/>
        </p:nvSpPr>
        <p:spPr>
          <a:xfrm>
            <a:off x="10172700" y="4796027"/>
            <a:ext cx="228600" cy="228600"/>
          </a:xfrm>
          <a:prstGeom prst="ellipse">
            <a:avLst/>
          </a:prstGeom>
          <a:solidFill>
            <a:srgbClr val="181C22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88702" y="4825745"/>
            <a:ext cx="196596" cy="164592"/>
          </a:xfrm>
          <a:prstGeom prst="rect">
            <a:avLst/>
          </a:prstGeom>
          <a:noFill/>
        </p:spPr>
        <p:txBody>
          <a:bodyPr wrap="none" lIns="13716" rIns="13716" tIns="13716" bIns="13716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rial"/>
              </a:rPr>
              <a:t>▷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59952" y="5230368"/>
            <a:ext cx="2103120" cy="164592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800" b="1">
                <a:solidFill>
                  <a:srgbClr val="5B6470"/>
                </a:solidFill>
                <a:latin typeface="SF Mono"/>
              </a:rPr>
              <a:t>CPU  •  QNN PROVIDER AVAILABLE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59952" y="5486400"/>
            <a:ext cx="2148840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900" b="0">
                <a:solidFill>
                  <a:srgbClr val="A5ADB8"/>
                </a:solidFill>
                <a:latin typeface="SF Pro Display"/>
              </a:rPr>
              <a:t>Human review remains in control.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217920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900" b="1">
                <a:solidFill>
                  <a:srgbClr val="45DD91"/>
                </a:solidFill>
                <a:latin typeface="SF Mono"/>
              </a:rPr>
              <a:t>01  / 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789920" cy="566928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SF Pro Display"/>
              </a:rPr>
              <a:t>The hidden cost is context reconstruction.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0881360" cy="32004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200" b="0">
                <a:solidFill>
                  <a:srgbClr val="A5ADB8"/>
                </a:solidFill>
                <a:latin typeface="SF Pro Display"/>
              </a:rPr>
              <a:t>Consulting lens: the workflow is fragmented even when every individual tool works.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5120640" cy="164592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800" b="1">
                <a:solidFill>
                  <a:srgbClr val="5B6470"/>
                </a:solidFill>
                <a:latin typeface="SF Mono"/>
              </a:rPr>
              <a:t>CODESYNC-AI  /  SOLUTION SUBMISSION  /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6473952"/>
            <a:ext cx="5074920" cy="164592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r"/>
            <a:r>
              <a:rPr sz="800" b="0">
                <a:solidFill>
                  <a:srgbClr val="5B6470"/>
                </a:solidFill>
                <a:latin typeface="SF Mono"/>
              </a:rPr>
              <a:t>Repo-grounded • verified / wired / next clearly separated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554480" cy="1325880"/>
          </a:xfrm>
          <a:prstGeom prst="roundRect">
            <a:avLst>
              <a:gd name="adj" fmla="val 8000"/>
            </a:avLst>
          </a:prstGeom>
          <a:solidFill>
            <a:srgbClr val="0F1217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1929384"/>
            <a:ext cx="365760" cy="365760"/>
          </a:xfrm>
          <a:prstGeom prst="ellipse">
            <a:avLst/>
          </a:prstGeom>
          <a:solidFill>
            <a:srgbClr val="181C22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3699" y="1976932"/>
            <a:ext cx="314553" cy="263347"/>
          </a:xfrm>
          <a:prstGeom prst="rect">
            <a:avLst/>
          </a:prstGeom>
          <a:noFill/>
        </p:spPr>
        <p:txBody>
          <a:bodyPr wrap="none" lIns="13716" rIns="13716" tIns="13716" bIns="13716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rial"/>
              </a:rPr>
              <a:t>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7" y="1947672"/>
            <a:ext cx="804672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000" b="1">
                <a:solidFill>
                  <a:srgbClr val="F5F7FA"/>
                </a:solidFill>
                <a:latin typeface="SF Mono"/>
              </a:rPr>
              <a:t>WATCH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395728"/>
            <a:ext cx="1225296" cy="384048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000" b="0">
                <a:solidFill>
                  <a:srgbClr val="A5ADB8"/>
                </a:solidFill>
                <a:latin typeface="SF Pro Display"/>
              </a:rPr>
              <a:t>lesson context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194560" y="2450592"/>
            <a:ext cx="301751" cy="0"/>
          </a:xfrm>
          <a:prstGeom prst="line">
            <a:avLst/>
          </a:prstGeom>
          <a:ln w="17780">
            <a:solidFill>
              <a:srgbClr val="2D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496311" y="1783080"/>
            <a:ext cx="1554480" cy="1325880"/>
          </a:xfrm>
          <a:prstGeom prst="roundRect">
            <a:avLst>
              <a:gd name="adj" fmla="val 8000"/>
            </a:avLst>
          </a:prstGeom>
          <a:solidFill>
            <a:srgbClr val="0F1217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24327" y="1929384"/>
            <a:ext cx="365760" cy="365760"/>
          </a:xfrm>
          <a:prstGeom prst="ellipse">
            <a:avLst/>
          </a:prstGeom>
          <a:solidFill>
            <a:srgbClr val="181C22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49931" y="1976932"/>
            <a:ext cx="314553" cy="263347"/>
          </a:xfrm>
          <a:prstGeom prst="rect">
            <a:avLst/>
          </a:prstGeom>
          <a:noFill/>
        </p:spPr>
        <p:txBody>
          <a:bodyPr wrap="none" lIns="13716" rIns="13716" tIns="13716" bIns="13716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rial"/>
              </a:rPr>
              <a:t>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39" y="1947672"/>
            <a:ext cx="804672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000" b="1">
                <a:solidFill>
                  <a:srgbClr val="F5F7FA"/>
                </a:solidFill>
                <a:latin typeface="SF Mono"/>
              </a:rPr>
              <a:t>PAUSE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60903" y="2395728"/>
            <a:ext cx="1225296" cy="384048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000" b="0">
                <a:solidFill>
                  <a:srgbClr val="A5ADB8"/>
                </a:solidFill>
                <a:latin typeface="SF Pro Display"/>
              </a:rPr>
              <a:t>find the code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050791" y="2450592"/>
            <a:ext cx="301753" cy="0"/>
          </a:xfrm>
          <a:prstGeom prst="line">
            <a:avLst/>
          </a:prstGeom>
          <a:ln w="17780">
            <a:solidFill>
              <a:srgbClr val="2D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52544" y="1783080"/>
            <a:ext cx="1554480" cy="1325880"/>
          </a:xfrm>
          <a:prstGeom prst="roundRect">
            <a:avLst>
              <a:gd name="adj" fmla="val 8000"/>
            </a:avLst>
          </a:prstGeom>
          <a:solidFill>
            <a:srgbClr val="0F1217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80559" y="1929384"/>
            <a:ext cx="365760" cy="365760"/>
          </a:xfrm>
          <a:prstGeom prst="ellipse">
            <a:avLst/>
          </a:prstGeom>
          <a:solidFill>
            <a:srgbClr val="181C22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06163" y="1976932"/>
            <a:ext cx="314553" cy="263347"/>
          </a:xfrm>
          <a:prstGeom prst="rect">
            <a:avLst/>
          </a:prstGeom>
          <a:noFill/>
        </p:spPr>
        <p:txBody>
          <a:bodyPr wrap="none" lIns="13716" rIns="13716" tIns="13716" bIns="13716" anchor="ctr">
            <a:spAutoFit/>
          </a:bodyPr>
          <a:lstStyle/>
          <a:p>
            <a:pPr algn="ctr"/>
            <a:r>
              <a:rPr sz="1200" b="1">
                <a:solidFill>
                  <a:srgbClr val="F5BA48"/>
                </a:solidFill>
                <a:latin typeface="Arial"/>
              </a:rPr>
              <a:t>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9472" y="1947672"/>
            <a:ext cx="804672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000" b="1">
                <a:solidFill>
                  <a:srgbClr val="F5F7FA"/>
                </a:solidFill>
                <a:latin typeface="SF Mono"/>
              </a:rPr>
              <a:t>SWITCH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7136" y="2395728"/>
            <a:ext cx="1225296" cy="384048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000" b="0">
                <a:solidFill>
                  <a:srgbClr val="A5ADB8"/>
                </a:solidFill>
                <a:latin typeface="SF Pro Display"/>
              </a:rPr>
              <a:t>leave the lesson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07024" y="2450592"/>
            <a:ext cx="301751" cy="0"/>
          </a:xfrm>
          <a:prstGeom prst="line">
            <a:avLst/>
          </a:prstGeom>
          <a:ln w="17780">
            <a:solidFill>
              <a:srgbClr val="2D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08776" y="1783080"/>
            <a:ext cx="1554480" cy="1325880"/>
          </a:xfrm>
          <a:prstGeom prst="roundRect">
            <a:avLst>
              <a:gd name="adj" fmla="val 8000"/>
            </a:avLst>
          </a:prstGeom>
          <a:solidFill>
            <a:srgbClr val="0F1217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336792" y="1929384"/>
            <a:ext cx="365760" cy="365760"/>
          </a:xfrm>
          <a:prstGeom prst="ellipse">
            <a:avLst/>
          </a:prstGeom>
          <a:solidFill>
            <a:srgbClr val="181C22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2395" y="1976932"/>
            <a:ext cx="314553" cy="263347"/>
          </a:xfrm>
          <a:prstGeom prst="rect">
            <a:avLst/>
          </a:prstGeom>
          <a:noFill/>
        </p:spPr>
        <p:txBody>
          <a:bodyPr wrap="none" lIns="13716" rIns="13716" tIns="13716" bIns="13716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rial"/>
              </a:rPr>
              <a:t>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75704" y="1947672"/>
            <a:ext cx="804672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000" b="1">
                <a:solidFill>
                  <a:srgbClr val="F5F7FA"/>
                </a:solidFill>
                <a:latin typeface="SF Mono"/>
              </a:rPr>
              <a:t>RETYPE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2395728"/>
            <a:ext cx="1225296" cy="384048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000" b="0">
                <a:solidFill>
                  <a:srgbClr val="A5ADB8"/>
                </a:solidFill>
                <a:latin typeface="SF Pro Display"/>
              </a:rPr>
              <a:t>rebuild context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63256" y="2450592"/>
            <a:ext cx="301752" cy="0"/>
          </a:xfrm>
          <a:prstGeom prst="line">
            <a:avLst/>
          </a:prstGeom>
          <a:ln w="17780">
            <a:solidFill>
              <a:srgbClr val="2D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065007" y="1783080"/>
            <a:ext cx="1554480" cy="1325880"/>
          </a:xfrm>
          <a:prstGeom prst="roundRect">
            <a:avLst>
              <a:gd name="adj" fmla="val 8000"/>
            </a:avLst>
          </a:prstGeom>
          <a:solidFill>
            <a:srgbClr val="0F1217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193023" y="1929384"/>
            <a:ext cx="365760" cy="365760"/>
          </a:xfrm>
          <a:prstGeom prst="ellipse">
            <a:avLst/>
          </a:prstGeom>
          <a:solidFill>
            <a:srgbClr val="181C22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18627" y="1976932"/>
            <a:ext cx="314553" cy="263347"/>
          </a:xfrm>
          <a:prstGeom prst="rect">
            <a:avLst/>
          </a:prstGeom>
          <a:noFill/>
        </p:spPr>
        <p:txBody>
          <a:bodyPr wrap="none" lIns="13716" rIns="13716" tIns="13716" bIns="13716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rial"/>
              </a:rPr>
              <a:t>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31935" y="1947672"/>
            <a:ext cx="804672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000" b="1">
                <a:solidFill>
                  <a:srgbClr val="F5F7FA"/>
                </a:solidFill>
                <a:latin typeface="SF Mono"/>
              </a:rPr>
              <a:t>RUN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599" y="2395728"/>
            <a:ext cx="1225296" cy="384048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000" b="0">
                <a:solidFill>
                  <a:srgbClr val="A5ADB8"/>
                </a:solidFill>
                <a:latin typeface="SF Pro Display"/>
              </a:rPr>
              <a:t>see what broke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619487" y="2450592"/>
            <a:ext cx="301752" cy="0"/>
          </a:xfrm>
          <a:prstGeom prst="line">
            <a:avLst/>
          </a:prstGeom>
          <a:ln w="17780">
            <a:solidFill>
              <a:srgbClr val="2D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921239" y="1783080"/>
            <a:ext cx="1554480" cy="1325880"/>
          </a:xfrm>
          <a:prstGeom prst="roundRect">
            <a:avLst>
              <a:gd name="adj" fmla="val 8000"/>
            </a:avLst>
          </a:prstGeom>
          <a:solidFill>
            <a:srgbClr val="0F1217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049255" y="1929384"/>
            <a:ext cx="365760" cy="365760"/>
          </a:xfrm>
          <a:prstGeom prst="ellipse">
            <a:avLst/>
          </a:prstGeom>
          <a:solidFill>
            <a:srgbClr val="181C22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74859" y="1976932"/>
            <a:ext cx="314553" cy="263347"/>
          </a:xfrm>
          <a:prstGeom prst="rect">
            <a:avLst/>
          </a:prstGeom>
          <a:noFill/>
        </p:spPr>
        <p:txBody>
          <a:bodyPr wrap="none" lIns="13716" rIns="13716" tIns="13716" bIns="13716" anchor="ctr">
            <a:spAutoFit/>
          </a:bodyPr>
          <a:lstStyle/>
          <a:p>
            <a:pPr algn="ctr"/>
            <a:r>
              <a:rPr sz="1200" b="1">
                <a:solidFill>
                  <a:srgbClr val="F5BA48"/>
                </a:solidFill>
                <a:latin typeface="Arial"/>
              </a:rPr>
              <a:t>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88167" y="1947672"/>
            <a:ext cx="804672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000" b="1">
                <a:solidFill>
                  <a:srgbClr val="F5F7FA"/>
                </a:solidFill>
                <a:latin typeface="SF Mono"/>
              </a:rPr>
              <a:t>REWIND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85831" y="2395728"/>
            <a:ext cx="1225296" cy="384048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000" b="0">
                <a:solidFill>
                  <a:srgbClr val="A5ADB8"/>
                </a:solidFill>
                <a:latin typeface="SF Pro Display"/>
              </a:rPr>
              <a:t>recover context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3401568"/>
            <a:ext cx="6812280" cy="1938528"/>
          </a:xfrm>
          <a:prstGeom prst="roundRect">
            <a:avLst>
              <a:gd name="adj" fmla="val 8000"/>
            </a:avLst>
          </a:prstGeom>
          <a:solidFill>
            <a:srgbClr val="14181E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1832" y="3685032"/>
            <a:ext cx="1371600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900" b="1">
                <a:solidFill>
                  <a:srgbClr val="45DD91"/>
                </a:solidFill>
                <a:latin typeface="SF Mono"/>
              </a:rPr>
              <a:t>THE PRODUCT BET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" y="3977639"/>
            <a:ext cx="5303520" cy="36576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2200" b="1">
                <a:solidFill>
                  <a:srgbClr val="F5F7FA"/>
                </a:solidFill>
                <a:latin typeface="SF Pro Display"/>
              </a:rPr>
              <a:t>Preserve the learner’s place.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" y="4480560"/>
            <a:ext cx="5852160" cy="438912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200" b="0">
                <a:solidFill>
                  <a:srgbClr val="A5ADB8"/>
                </a:solidFill>
                <a:latin typeface="SF Pro Display"/>
              </a:rPr>
              <a:t>The lesson, captured code, timestamp and practice state should remain connected.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26679" y="3401568"/>
            <a:ext cx="3794760" cy="1938528"/>
          </a:xfrm>
          <a:prstGeom prst="roundRect">
            <a:avLst>
              <a:gd name="adj" fmla="val 8000"/>
            </a:avLst>
          </a:prstGeom>
          <a:solidFill>
            <a:srgbClr val="0F1217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28431" y="3685032"/>
            <a:ext cx="1371600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900" b="1">
                <a:solidFill>
                  <a:srgbClr val="5AA0FF"/>
                </a:solidFill>
                <a:latin typeface="SF Mono"/>
              </a:rPr>
              <a:t>REPO EVIDENCE</a:t>
            </a:r>
          </a:p>
        </p:txBody>
      </p:sp>
      <p:sp>
        <p:nvSpPr>
          <p:cNvPr id="48" name="Oval 47"/>
          <p:cNvSpPr/>
          <p:nvPr/>
        </p:nvSpPr>
        <p:spPr>
          <a:xfrm>
            <a:off x="8014716" y="3991356"/>
            <a:ext cx="210312" cy="210312"/>
          </a:xfrm>
          <a:prstGeom prst="ellipse">
            <a:avLst/>
          </a:prstGeom>
          <a:solidFill>
            <a:srgbClr val="181C22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29437" y="4018696"/>
            <a:ext cx="180868" cy="151424"/>
          </a:xfrm>
          <a:prstGeom prst="rect">
            <a:avLst/>
          </a:prstGeom>
          <a:noFill/>
        </p:spPr>
        <p:txBody>
          <a:bodyPr wrap="none" lIns="13716" rIns="13716" tIns="13716" bIns="13716" anchor="ctr">
            <a:spAutoFit/>
          </a:bodyPr>
          <a:lstStyle/>
          <a:p>
            <a:pPr algn="ctr"/>
            <a:r>
              <a:rPr sz="1200" b="1">
                <a:solidFill>
                  <a:srgbClr val="45DD91"/>
                </a:solidFill>
                <a:latin typeface="Arial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94192" y="4005072"/>
            <a:ext cx="2697480" cy="256032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SF Pro Display"/>
              </a:rPr>
              <a:t>10/10 sample code lines captured exactly</a:t>
            </a:r>
          </a:p>
        </p:txBody>
      </p:sp>
      <p:sp>
        <p:nvSpPr>
          <p:cNvPr id="51" name="Oval 50"/>
          <p:cNvSpPr/>
          <p:nvPr/>
        </p:nvSpPr>
        <p:spPr>
          <a:xfrm>
            <a:off x="8014716" y="4338828"/>
            <a:ext cx="210312" cy="210312"/>
          </a:xfrm>
          <a:prstGeom prst="ellipse">
            <a:avLst/>
          </a:prstGeom>
          <a:solidFill>
            <a:srgbClr val="181C22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29437" y="4366168"/>
            <a:ext cx="180868" cy="151424"/>
          </a:xfrm>
          <a:prstGeom prst="rect">
            <a:avLst/>
          </a:prstGeom>
          <a:noFill/>
        </p:spPr>
        <p:txBody>
          <a:bodyPr wrap="none" lIns="13716" rIns="13716" tIns="13716" bIns="13716" anchor="ctr">
            <a:spAutoFit/>
          </a:bodyPr>
          <a:lstStyle/>
          <a:p>
            <a:pPr algn="ctr"/>
            <a:r>
              <a:rPr sz="1200" b="1">
                <a:solidFill>
                  <a:srgbClr val="45DD91"/>
                </a:solidFill>
                <a:latin typeface="Arial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94192" y="4352544"/>
            <a:ext cx="2697480" cy="256032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SF Pro Display"/>
              </a:rPr>
              <a:t>Headless tests reported for core logic</a:t>
            </a:r>
          </a:p>
        </p:txBody>
      </p:sp>
      <p:sp>
        <p:nvSpPr>
          <p:cNvPr id="54" name="Oval 53"/>
          <p:cNvSpPr/>
          <p:nvPr/>
        </p:nvSpPr>
        <p:spPr>
          <a:xfrm>
            <a:off x="8014716" y="4686300"/>
            <a:ext cx="210312" cy="210312"/>
          </a:xfrm>
          <a:prstGeom prst="ellipse">
            <a:avLst/>
          </a:prstGeom>
          <a:solidFill>
            <a:srgbClr val="181C22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29437" y="4713640"/>
            <a:ext cx="180868" cy="151424"/>
          </a:xfrm>
          <a:prstGeom prst="rect">
            <a:avLst/>
          </a:prstGeom>
          <a:noFill/>
        </p:spPr>
        <p:txBody>
          <a:bodyPr wrap="none" lIns="13716" rIns="13716" tIns="13716" bIns="13716" anchor="ctr">
            <a:spAutoFit/>
          </a:bodyPr>
          <a:lstStyle/>
          <a:p>
            <a:pPr algn="ctr"/>
            <a:r>
              <a:rPr sz="1200" b="1">
                <a:solidFill>
                  <a:srgbClr val="45DD91"/>
                </a:solidFill>
                <a:latin typeface="Arial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94192" y="4700016"/>
            <a:ext cx="2697480" cy="256032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000" b="0">
                <a:solidFill>
                  <a:srgbClr val="F5F7FA"/>
                </a:solidFill>
                <a:latin typeface="SF Pro Display"/>
              </a:rPr>
              <a:t>Offline/local workflow is implemented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" y="5687568"/>
            <a:ext cx="1325880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900" b="1">
                <a:solidFill>
                  <a:srgbClr val="F5BA48"/>
                </a:solidFill>
                <a:latin typeface="SF Mono"/>
              </a:rPr>
              <a:t>DECISION QUESTION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65960" y="5641848"/>
            <a:ext cx="9235440" cy="256032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  <a:latin typeface="SF Pro Display"/>
              </a:rPr>
              <a:t>Can the product reduce the number of times a learner must reconstruct context?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217920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900" b="1">
                <a:solidFill>
                  <a:srgbClr val="45DD91"/>
                </a:solidFill>
                <a:latin typeface="SF Mono"/>
              </a:rPr>
              <a:t>02  /  PRODUCT &amp; INFORMATION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789920" cy="566928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SF Pro Display"/>
              </a:rPr>
              <a:t>One screen. Six connected states.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0881360" cy="32004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200" b="0">
                <a:solidFill>
                  <a:srgbClr val="A5ADB8"/>
                </a:solidFill>
                <a:latin typeface="SF Pro Display"/>
              </a:rPr>
              <a:t>The information architecture makes the workflow visible: lesson context is the spine; AI services attach to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5120640" cy="164592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800" b="1">
                <a:solidFill>
                  <a:srgbClr val="5B6470"/>
                </a:solidFill>
                <a:latin typeface="SF Mono"/>
              </a:rPr>
              <a:t>CODESYNC-AI  /  SOLUTION SUBMISSION  / 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6473952"/>
            <a:ext cx="5074920" cy="164592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r"/>
            <a:r>
              <a:rPr sz="800" b="0">
                <a:solidFill>
                  <a:srgbClr val="5B6470"/>
                </a:solidFill>
                <a:latin typeface="SF Mono"/>
              </a:rPr>
              <a:t>Repo-grounded • verified / wired / next clearly separated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1051560" cy="4160520"/>
          </a:xfrm>
          <a:prstGeom prst="roundRect">
            <a:avLst>
              <a:gd name="adj" fmla="val 8000"/>
            </a:avLst>
          </a:prstGeom>
          <a:solidFill>
            <a:srgbClr val="14181E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32104" y="1773936"/>
            <a:ext cx="256032" cy="256032"/>
          </a:xfrm>
          <a:prstGeom prst="ellipse">
            <a:avLst/>
          </a:prstGeom>
          <a:solidFill>
            <a:srgbClr val="181C22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026" y="1807220"/>
            <a:ext cx="220187" cy="184343"/>
          </a:xfrm>
          <a:prstGeom prst="rect">
            <a:avLst/>
          </a:prstGeom>
          <a:noFill/>
        </p:spPr>
        <p:txBody>
          <a:bodyPr wrap="none" lIns="13716" rIns="13716" tIns="13716" bIns="13716" anchor="ctr">
            <a:spAutoFit/>
          </a:bodyPr>
          <a:lstStyle/>
          <a:p>
            <a:pPr algn="ctr"/>
            <a:r>
              <a:rPr sz="1200" b="1">
                <a:solidFill>
                  <a:srgbClr val="45DD91"/>
                </a:solidFill>
                <a:latin typeface="Arial"/>
              </a:rPr>
              <a:t>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066544"/>
            <a:ext cx="822960" cy="155448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ctr"/>
            <a:r>
              <a:rPr sz="800" b="1">
                <a:solidFill>
                  <a:srgbClr val="F5F7FA"/>
                </a:solidFill>
                <a:latin typeface="SF Mono"/>
              </a:rPr>
              <a:t>Lesson</a:t>
            </a:r>
          </a:p>
        </p:txBody>
      </p:sp>
      <p:sp>
        <p:nvSpPr>
          <p:cNvPr id="11" name="Oval 10"/>
          <p:cNvSpPr/>
          <p:nvPr/>
        </p:nvSpPr>
        <p:spPr>
          <a:xfrm>
            <a:off x="832104" y="2377440"/>
            <a:ext cx="256032" cy="256032"/>
          </a:xfrm>
          <a:prstGeom prst="ellipse">
            <a:avLst/>
          </a:prstGeom>
          <a:solidFill>
            <a:srgbClr val="181C22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026" y="2410724"/>
            <a:ext cx="220187" cy="184343"/>
          </a:xfrm>
          <a:prstGeom prst="rect">
            <a:avLst/>
          </a:prstGeom>
          <a:noFill/>
        </p:spPr>
        <p:txBody>
          <a:bodyPr wrap="none" lIns="13716" rIns="13716" tIns="13716" bIns="13716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rial"/>
              </a:rPr>
              <a:t>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670048"/>
            <a:ext cx="822960" cy="155448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ctr"/>
            <a:r>
              <a:rPr sz="800" b="0">
                <a:solidFill>
                  <a:srgbClr val="A5ADB8"/>
                </a:solidFill>
                <a:latin typeface="SF Mono"/>
              </a:rPr>
              <a:t>Capture</a:t>
            </a:r>
          </a:p>
        </p:txBody>
      </p:sp>
      <p:sp>
        <p:nvSpPr>
          <p:cNvPr id="14" name="Oval 13"/>
          <p:cNvSpPr/>
          <p:nvPr/>
        </p:nvSpPr>
        <p:spPr>
          <a:xfrm>
            <a:off x="832104" y="2980944"/>
            <a:ext cx="256032" cy="256032"/>
          </a:xfrm>
          <a:prstGeom prst="ellipse">
            <a:avLst/>
          </a:prstGeom>
          <a:solidFill>
            <a:srgbClr val="181C22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026" y="3014228"/>
            <a:ext cx="220187" cy="184343"/>
          </a:xfrm>
          <a:prstGeom prst="rect">
            <a:avLst/>
          </a:prstGeom>
          <a:noFill/>
        </p:spPr>
        <p:txBody>
          <a:bodyPr wrap="none" lIns="13716" rIns="13716" tIns="13716" bIns="13716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rial"/>
              </a:rPr>
              <a:t>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273552"/>
            <a:ext cx="822960" cy="155448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ctr"/>
            <a:r>
              <a:rPr sz="800" b="0">
                <a:solidFill>
                  <a:srgbClr val="A5ADB8"/>
                </a:solidFill>
                <a:latin typeface="SF Mono"/>
              </a:rPr>
              <a:t>Search</a:t>
            </a:r>
          </a:p>
        </p:txBody>
      </p:sp>
      <p:sp>
        <p:nvSpPr>
          <p:cNvPr id="17" name="Oval 16"/>
          <p:cNvSpPr/>
          <p:nvPr/>
        </p:nvSpPr>
        <p:spPr>
          <a:xfrm>
            <a:off x="832104" y="3584448"/>
            <a:ext cx="256032" cy="256032"/>
          </a:xfrm>
          <a:prstGeom prst="ellipse">
            <a:avLst/>
          </a:prstGeom>
          <a:solidFill>
            <a:srgbClr val="181C22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026" y="3617732"/>
            <a:ext cx="220187" cy="184343"/>
          </a:xfrm>
          <a:prstGeom prst="rect">
            <a:avLst/>
          </a:prstGeom>
          <a:noFill/>
        </p:spPr>
        <p:txBody>
          <a:bodyPr wrap="none" lIns="13716" rIns="13716" tIns="13716" bIns="13716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877056"/>
            <a:ext cx="822960" cy="155448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ctr"/>
            <a:r>
              <a:rPr sz="800" b="0">
                <a:solidFill>
                  <a:srgbClr val="A5ADB8"/>
                </a:solidFill>
                <a:latin typeface="SF Mono"/>
              </a:rPr>
              <a:t>Practice</a:t>
            </a:r>
          </a:p>
        </p:txBody>
      </p:sp>
      <p:sp>
        <p:nvSpPr>
          <p:cNvPr id="20" name="Oval 19"/>
          <p:cNvSpPr/>
          <p:nvPr/>
        </p:nvSpPr>
        <p:spPr>
          <a:xfrm>
            <a:off x="832104" y="4187952"/>
            <a:ext cx="256032" cy="256032"/>
          </a:xfrm>
          <a:prstGeom prst="ellipse">
            <a:avLst/>
          </a:prstGeom>
          <a:solidFill>
            <a:srgbClr val="181C22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026" y="4221236"/>
            <a:ext cx="220187" cy="184343"/>
          </a:xfrm>
          <a:prstGeom prst="rect">
            <a:avLst/>
          </a:prstGeom>
          <a:noFill/>
        </p:spPr>
        <p:txBody>
          <a:bodyPr wrap="none" lIns="13716" rIns="13716" tIns="13716" bIns="13716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rial"/>
              </a:rPr>
              <a:t>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480560"/>
            <a:ext cx="822960" cy="155448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ctr"/>
            <a:r>
              <a:rPr sz="800" b="0">
                <a:solidFill>
                  <a:srgbClr val="A5ADB8"/>
                </a:solidFill>
                <a:latin typeface="SF Mono"/>
              </a:rPr>
              <a:t>Run</a:t>
            </a:r>
          </a:p>
        </p:txBody>
      </p:sp>
      <p:sp>
        <p:nvSpPr>
          <p:cNvPr id="23" name="Oval 22"/>
          <p:cNvSpPr/>
          <p:nvPr/>
        </p:nvSpPr>
        <p:spPr>
          <a:xfrm>
            <a:off x="832104" y="4791456"/>
            <a:ext cx="256032" cy="256032"/>
          </a:xfrm>
          <a:prstGeom prst="ellipse">
            <a:avLst/>
          </a:prstGeom>
          <a:solidFill>
            <a:srgbClr val="181C22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026" y="4824740"/>
            <a:ext cx="220187" cy="184343"/>
          </a:xfrm>
          <a:prstGeom prst="rect">
            <a:avLst/>
          </a:prstGeom>
          <a:noFill/>
        </p:spPr>
        <p:txBody>
          <a:bodyPr wrap="none" lIns="13716" rIns="13716" tIns="13716" bIns="13716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rial"/>
              </a:rPr>
              <a:t>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084064"/>
            <a:ext cx="822960" cy="155448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ctr"/>
            <a:r>
              <a:rPr sz="800" b="0">
                <a:solidFill>
                  <a:srgbClr val="A5ADB8"/>
                </a:solidFill>
                <a:latin typeface="SF Mono"/>
              </a:rPr>
              <a:t>Engine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74519" y="1600200"/>
            <a:ext cx="3703320" cy="4160520"/>
          </a:xfrm>
          <a:prstGeom prst="roundRect">
            <a:avLst>
              <a:gd name="adj" fmla="val 8000"/>
            </a:avLst>
          </a:prstGeom>
          <a:solidFill>
            <a:srgbClr val="0F1217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30552" y="1847088"/>
            <a:ext cx="2926080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900" b="1">
                <a:solidFill>
                  <a:srgbClr val="45DD91"/>
                </a:solidFill>
                <a:latin typeface="SF Mono"/>
              </a:rPr>
              <a:t>INFORMATION ARCHITECTURE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94560" y="2240280"/>
            <a:ext cx="3017520" cy="566928"/>
          </a:xfrm>
          <a:prstGeom prst="roundRect">
            <a:avLst>
              <a:gd name="adj" fmla="val 8000"/>
            </a:avLst>
          </a:prstGeom>
          <a:solidFill>
            <a:srgbClr val="14181E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359152" y="2395727"/>
            <a:ext cx="256032" cy="256032"/>
          </a:xfrm>
          <a:prstGeom prst="ellipse">
            <a:avLst/>
          </a:prstGeom>
          <a:solidFill>
            <a:srgbClr val="181C22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77074" y="2429012"/>
            <a:ext cx="220187" cy="184343"/>
          </a:xfrm>
          <a:prstGeom prst="rect">
            <a:avLst/>
          </a:prstGeom>
          <a:noFill/>
        </p:spPr>
        <p:txBody>
          <a:bodyPr wrap="none" lIns="13716" rIns="13716" tIns="13716" bIns="13716" anchor="ctr">
            <a:spAutoFit/>
          </a:bodyPr>
          <a:lstStyle/>
          <a:p>
            <a:pPr algn="ctr"/>
            <a:r>
              <a:rPr sz="1200" b="1">
                <a:solidFill>
                  <a:srgbClr val="45DD91"/>
                </a:solidFill>
                <a:latin typeface="Arial"/>
              </a:rPr>
              <a:t>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2404872"/>
            <a:ext cx="1463040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100" b="1">
                <a:solidFill>
                  <a:srgbClr val="F5F7FA"/>
                </a:solidFill>
                <a:latin typeface="SF Mono"/>
              </a:rPr>
              <a:t>LESSON CONTEXT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2633472"/>
            <a:ext cx="2103120" cy="155448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800" b="0">
                <a:solidFill>
                  <a:srgbClr val="A5ADB8"/>
                </a:solidFill>
                <a:latin typeface="SF Mono"/>
              </a:rPr>
              <a:t>video • slides • transcript • timestamp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703320" y="2807208"/>
            <a:ext cx="0" cy="283464"/>
          </a:xfrm>
          <a:prstGeom prst="line">
            <a:avLst/>
          </a:prstGeom>
          <a:ln w="12700">
            <a:solidFill>
              <a:srgbClr val="2D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2176272" y="3090672"/>
            <a:ext cx="3035808" cy="438912"/>
          </a:xfrm>
          <a:prstGeom prst="roundRect">
            <a:avLst>
              <a:gd name="adj" fmla="val 8000"/>
            </a:avLst>
          </a:prstGeom>
          <a:solidFill>
            <a:srgbClr val="0C0F14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331720" y="3200400"/>
            <a:ext cx="219456" cy="219456"/>
          </a:xfrm>
          <a:prstGeom prst="ellipse">
            <a:avLst/>
          </a:prstGeom>
          <a:solidFill>
            <a:srgbClr val="181C22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47081" y="3228929"/>
            <a:ext cx="188732" cy="158008"/>
          </a:xfrm>
          <a:prstGeom prst="rect">
            <a:avLst/>
          </a:prstGeom>
          <a:noFill/>
        </p:spPr>
        <p:txBody>
          <a:bodyPr wrap="none" lIns="13716" rIns="13716" tIns="13716" bIns="13716" anchor="ctr">
            <a:spAutoFit/>
          </a:bodyPr>
          <a:lstStyle/>
          <a:p>
            <a:pPr algn="ctr"/>
            <a:r>
              <a:rPr sz="1200" b="1">
                <a:solidFill>
                  <a:srgbClr val="5AA0FF"/>
                </a:solidFill>
                <a:latin typeface="Arial"/>
              </a:rPr>
              <a:t>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70048" y="3172968"/>
            <a:ext cx="1234440" cy="146304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800" b="1">
                <a:solidFill>
                  <a:srgbClr val="5AA0FF"/>
                </a:solidFill>
                <a:latin typeface="SF Mono"/>
              </a:rPr>
              <a:t>CAPTURED CODE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3172968"/>
            <a:ext cx="1170432" cy="22860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800" b="0">
                <a:solidFill>
                  <a:srgbClr val="A5ADB8"/>
                </a:solidFill>
                <a:latin typeface="SF Pro Display"/>
              </a:rPr>
              <a:t>OCR output • cleaned code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703320" y="2807208"/>
            <a:ext cx="0" cy="859536"/>
          </a:xfrm>
          <a:prstGeom prst="line">
            <a:avLst/>
          </a:prstGeom>
          <a:ln w="12700">
            <a:solidFill>
              <a:srgbClr val="2D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2176272" y="3666744"/>
            <a:ext cx="3035808" cy="438912"/>
          </a:xfrm>
          <a:prstGeom prst="roundRect">
            <a:avLst>
              <a:gd name="adj" fmla="val 8000"/>
            </a:avLst>
          </a:prstGeom>
          <a:solidFill>
            <a:srgbClr val="0C0F14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331720" y="3776472"/>
            <a:ext cx="219456" cy="219456"/>
          </a:xfrm>
          <a:prstGeom prst="ellipse">
            <a:avLst/>
          </a:prstGeom>
          <a:solidFill>
            <a:srgbClr val="181C22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347081" y="3805001"/>
            <a:ext cx="188732" cy="158008"/>
          </a:xfrm>
          <a:prstGeom prst="rect">
            <a:avLst/>
          </a:prstGeom>
          <a:noFill/>
        </p:spPr>
        <p:txBody>
          <a:bodyPr wrap="none" lIns="13716" rIns="13716" tIns="13716" bIns="13716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rial"/>
              </a:rPr>
              <a:t>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70048" y="3749039"/>
            <a:ext cx="1234440" cy="146304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800" b="1">
                <a:solidFill>
                  <a:srgbClr val="F5F7FA"/>
                </a:solidFill>
                <a:latin typeface="SF Mono"/>
              </a:rPr>
              <a:t>SEARCH INDEX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0" y="3749039"/>
            <a:ext cx="1170432" cy="22860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800" b="0">
                <a:solidFill>
                  <a:srgbClr val="A5ADB8"/>
                </a:solidFill>
                <a:latin typeface="SF Pro Display"/>
              </a:rPr>
              <a:t>TF-IDF across lesson content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703320" y="2807208"/>
            <a:ext cx="0" cy="1435608"/>
          </a:xfrm>
          <a:prstGeom prst="line">
            <a:avLst/>
          </a:prstGeom>
          <a:ln w="12700">
            <a:solidFill>
              <a:srgbClr val="2D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2176272" y="4242816"/>
            <a:ext cx="3035808" cy="438912"/>
          </a:xfrm>
          <a:prstGeom prst="roundRect">
            <a:avLst>
              <a:gd name="adj" fmla="val 8000"/>
            </a:avLst>
          </a:prstGeom>
          <a:solidFill>
            <a:srgbClr val="0C0F14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31720" y="4352544"/>
            <a:ext cx="219456" cy="219456"/>
          </a:xfrm>
          <a:prstGeom prst="ellipse">
            <a:avLst/>
          </a:prstGeom>
          <a:solidFill>
            <a:srgbClr val="181C22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47081" y="4381073"/>
            <a:ext cx="188732" cy="158008"/>
          </a:xfrm>
          <a:prstGeom prst="rect">
            <a:avLst/>
          </a:prstGeom>
          <a:noFill/>
        </p:spPr>
        <p:txBody>
          <a:bodyPr wrap="none" lIns="13716" rIns="13716" tIns="13716" bIns="13716" anchor="ctr">
            <a:spAutoFit/>
          </a:bodyPr>
          <a:lstStyle/>
          <a:p>
            <a:pPr algn="ctr"/>
            <a:r>
              <a:rPr sz="1200" b="1">
                <a:solidFill>
                  <a:srgbClr val="45DD91"/>
                </a:solidFill>
                <a:latin typeface="Arial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70048" y="4325112"/>
            <a:ext cx="1234440" cy="146304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800" b="1">
                <a:solidFill>
                  <a:srgbClr val="45DD91"/>
                </a:solidFill>
                <a:latin typeface="SF Mono"/>
              </a:rPr>
              <a:t>PRACTICE STATE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40480" y="4325112"/>
            <a:ext cx="1170432" cy="22860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800" b="0">
                <a:solidFill>
                  <a:srgbClr val="A5ADB8"/>
                </a:solidFill>
                <a:latin typeface="SF Pro Display"/>
              </a:rPr>
              <a:t>checkpoint • hint • pass/fail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703320" y="2807208"/>
            <a:ext cx="0" cy="2011680"/>
          </a:xfrm>
          <a:prstGeom prst="line">
            <a:avLst/>
          </a:prstGeom>
          <a:ln w="12700">
            <a:solidFill>
              <a:srgbClr val="2D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2176272" y="4818888"/>
            <a:ext cx="3035808" cy="438912"/>
          </a:xfrm>
          <a:prstGeom prst="roundRect">
            <a:avLst>
              <a:gd name="adj" fmla="val 8000"/>
            </a:avLst>
          </a:prstGeom>
          <a:solidFill>
            <a:srgbClr val="0C0F14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331720" y="4928616"/>
            <a:ext cx="219456" cy="219456"/>
          </a:xfrm>
          <a:prstGeom prst="ellipse">
            <a:avLst/>
          </a:prstGeom>
          <a:solidFill>
            <a:srgbClr val="181C22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347081" y="4957145"/>
            <a:ext cx="188732" cy="158008"/>
          </a:xfrm>
          <a:prstGeom prst="rect">
            <a:avLst/>
          </a:prstGeom>
          <a:noFill/>
        </p:spPr>
        <p:txBody>
          <a:bodyPr wrap="none" lIns="13716" rIns="13716" tIns="13716" bIns="13716" anchor="ctr">
            <a:spAutoFit/>
          </a:bodyPr>
          <a:lstStyle/>
          <a:p>
            <a:pPr algn="ctr"/>
            <a:r>
              <a:rPr sz="1200" b="1">
                <a:solidFill>
                  <a:srgbClr val="F5BA48"/>
                </a:solidFill>
                <a:latin typeface="Arial"/>
              </a:rPr>
              <a:t>▷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70048" y="4901183"/>
            <a:ext cx="1234440" cy="146304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800" b="1">
                <a:solidFill>
                  <a:srgbClr val="F5BA48"/>
                </a:solidFill>
                <a:latin typeface="SF Mono"/>
              </a:rPr>
              <a:t>EXECUTION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40480" y="4901183"/>
            <a:ext cx="1170432" cy="22860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800" b="0">
                <a:solidFill>
                  <a:srgbClr val="A5ADB8"/>
                </a:solidFill>
                <a:latin typeface="SF Pro Display"/>
              </a:rPr>
              <a:t>run output • error explanation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870448" y="1600200"/>
            <a:ext cx="5650992" cy="4160520"/>
          </a:xfrm>
          <a:prstGeom prst="roundRect">
            <a:avLst>
              <a:gd name="adj" fmla="val 8000"/>
            </a:avLst>
          </a:prstGeom>
          <a:solidFill>
            <a:srgbClr val="14181E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44768" y="1847088"/>
            <a:ext cx="2011680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900" b="1">
                <a:solidFill>
                  <a:srgbClr val="F5BA48"/>
                </a:solidFill>
                <a:latin typeface="SF Mono"/>
              </a:rPr>
              <a:t>PRIMARY USER FLOW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44768" y="2331720"/>
            <a:ext cx="1417320" cy="932688"/>
          </a:xfrm>
          <a:prstGeom prst="roundRect">
            <a:avLst>
              <a:gd name="adj" fmla="val 8000"/>
            </a:avLst>
          </a:prstGeom>
          <a:solidFill>
            <a:srgbClr val="0F1217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72783" y="2441448"/>
            <a:ext cx="292608" cy="146304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800" b="1">
                <a:solidFill>
                  <a:srgbClr val="45DD91"/>
                </a:solidFill>
                <a:latin typeface="SF Mono"/>
              </a:rPr>
              <a:t>01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72783" y="2715768"/>
            <a:ext cx="1051560" cy="164592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000" b="1">
                <a:solidFill>
                  <a:srgbClr val="F5F7FA"/>
                </a:solidFill>
                <a:latin typeface="SF Mono"/>
              </a:rPr>
              <a:t>LESSON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72783" y="2953512"/>
            <a:ext cx="1005840" cy="13716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800" b="0">
                <a:solidFill>
                  <a:srgbClr val="A5ADB8"/>
                </a:solidFill>
                <a:latin typeface="SF Pro Display"/>
              </a:rPr>
              <a:t>understand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7562088" y="2798063"/>
            <a:ext cx="283464" cy="0"/>
          </a:xfrm>
          <a:prstGeom prst="line">
            <a:avLst/>
          </a:prstGeom>
          <a:ln w="13970">
            <a:solidFill>
              <a:srgbClr val="2D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7845552" y="2331720"/>
            <a:ext cx="1417320" cy="932688"/>
          </a:xfrm>
          <a:prstGeom prst="roundRect">
            <a:avLst>
              <a:gd name="adj" fmla="val 8000"/>
            </a:avLst>
          </a:prstGeom>
          <a:solidFill>
            <a:srgbClr val="0F1217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973568" y="2441448"/>
            <a:ext cx="292608" cy="146304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800" b="1">
                <a:solidFill>
                  <a:srgbClr val="45DD91"/>
                </a:solidFill>
                <a:latin typeface="SF Mono"/>
              </a:rPr>
              <a:t>02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73568" y="2715768"/>
            <a:ext cx="1051560" cy="164592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000" b="1">
                <a:solidFill>
                  <a:srgbClr val="F5F7FA"/>
                </a:solidFill>
                <a:latin typeface="SF Mono"/>
              </a:rPr>
              <a:t>CAPTURE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973568" y="2953512"/>
            <a:ext cx="1005840" cy="13716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800" b="0">
                <a:solidFill>
                  <a:srgbClr val="A5ADB8"/>
                </a:solidFill>
                <a:latin typeface="SF Pro Display"/>
              </a:rPr>
              <a:t>extract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9262872" y="2798063"/>
            <a:ext cx="283464" cy="0"/>
          </a:xfrm>
          <a:prstGeom prst="line">
            <a:avLst/>
          </a:prstGeom>
          <a:ln w="13970">
            <a:solidFill>
              <a:srgbClr val="2D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9546336" y="2331720"/>
            <a:ext cx="1417320" cy="932688"/>
          </a:xfrm>
          <a:prstGeom prst="roundRect">
            <a:avLst>
              <a:gd name="adj" fmla="val 8000"/>
            </a:avLst>
          </a:prstGeom>
          <a:solidFill>
            <a:srgbClr val="0F1217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674352" y="2441448"/>
            <a:ext cx="292608" cy="146304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800" b="1">
                <a:solidFill>
                  <a:srgbClr val="45DD91"/>
                </a:solidFill>
                <a:latin typeface="SF Mono"/>
              </a:rPr>
              <a:t>03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74352" y="2715768"/>
            <a:ext cx="1051560" cy="164592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000" b="1">
                <a:solidFill>
                  <a:srgbClr val="F5F7FA"/>
                </a:solidFill>
                <a:latin typeface="SF Mono"/>
              </a:rPr>
              <a:t>LINK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674352" y="2953512"/>
            <a:ext cx="1005840" cy="13716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800" b="0">
                <a:solidFill>
                  <a:srgbClr val="A5ADB8"/>
                </a:solidFill>
                <a:latin typeface="SF Pro Display"/>
              </a:rPr>
              <a:t>trace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10259567" y="3264408"/>
            <a:ext cx="0" cy="301752"/>
          </a:xfrm>
          <a:prstGeom prst="line">
            <a:avLst/>
          </a:prstGeom>
          <a:ln w="13970">
            <a:solidFill>
              <a:srgbClr val="2D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6144768" y="3566160"/>
            <a:ext cx="1417320" cy="932688"/>
          </a:xfrm>
          <a:prstGeom prst="roundRect">
            <a:avLst>
              <a:gd name="adj" fmla="val 8000"/>
            </a:avLst>
          </a:prstGeom>
          <a:solidFill>
            <a:srgbClr val="0F1217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72783" y="3675887"/>
            <a:ext cx="292608" cy="146304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800" b="1">
                <a:solidFill>
                  <a:srgbClr val="45DD91"/>
                </a:solidFill>
                <a:latin typeface="SF Mono"/>
              </a:rPr>
              <a:t>04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72783" y="3950208"/>
            <a:ext cx="1051560" cy="164592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000" b="1">
                <a:solidFill>
                  <a:srgbClr val="F5F7FA"/>
                </a:solidFill>
                <a:latin typeface="SF Mono"/>
              </a:rPr>
              <a:t>PRACTICE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72783" y="4187952"/>
            <a:ext cx="1005840" cy="13716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800" b="0">
                <a:solidFill>
                  <a:srgbClr val="A5ADB8"/>
                </a:solidFill>
                <a:latin typeface="SF Pro Display"/>
              </a:rPr>
              <a:t>verify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7562088" y="4032504"/>
            <a:ext cx="283464" cy="0"/>
          </a:xfrm>
          <a:prstGeom prst="line">
            <a:avLst/>
          </a:prstGeom>
          <a:ln w="13970">
            <a:solidFill>
              <a:srgbClr val="2D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78"/>
          <p:cNvSpPr/>
          <p:nvPr/>
        </p:nvSpPr>
        <p:spPr>
          <a:xfrm>
            <a:off x="7845552" y="3566160"/>
            <a:ext cx="1417320" cy="932688"/>
          </a:xfrm>
          <a:prstGeom prst="roundRect">
            <a:avLst>
              <a:gd name="adj" fmla="val 8000"/>
            </a:avLst>
          </a:prstGeom>
          <a:solidFill>
            <a:srgbClr val="0F1217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973568" y="3675887"/>
            <a:ext cx="292608" cy="146304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800" b="1">
                <a:solidFill>
                  <a:srgbClr val="45DD91"/>
                </a:solidFill>
                <a:latin typeface="SF Mono"/>
              </a:rPr>
              <a:t>05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973568" y="3950208"/>
            <a:ext cx="1051560" cy="164592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000" b="1">
                <a:solidFill>
                  <a:srgbClr val="F5F7FA"/>
                </a:solidFill>
                <a:latin typeface="SF Mono"/>
              </a:rPr>
              <a:t>RUN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973568" y="4187952"/>
            <a:ext cx="1005840" cy="13716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800" b="0">
                <a:solidFill>
                  <a:srgbClr val="A5ADB8"/>
                </a:solidFill>
                <a:latin typeface="SF Pro Display"/>
              </a:rPr>
              <a:t>execute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9262872" y="4032504"/>
            <a:ext cx="283464" cy="0"/>
          </a:xfrm>
          <a:prstGeom prst="line">
            <a:avLst/>
          </a:prstGeom>
          <a:ln w="13970">
            <a:solidFill>
              <a:srgbClr val="2D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9546336" y="3566160"/>
            <a:ext cx="1417320" cy="932688"/>
          </a:xfrm>
          <a:prstGeom prst="roundRect">
            <a:avLst>
              <a:gd name="adj" fmla="val 8000"/>
            </a:avLst>
          </a:prstGeom>
          <a:solidFill>
            <a:srgbClr val="0F1217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674352" y="3675887"/>
            <a:ext cx="292608" cy="146304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800" b="1">
                <a:solidFill>
                  <a:srgbClr val="45DD91"/>
                </a:solidFill>
                <a:latin typeface="SF Mono"/>
              </a:rPr>
              <a:t>06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674352" y="3950208"/>
            <a:ext cx="1051560" cy="164592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000" b="1">
                <a:solidFill>
                  <a:srgbClr val="F5F7FA"/>
                </a:solidFill>
                <a:latin typeface="SF Mono"/>
              </a:rPr>
              <a:t>EXPLAIN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674352" y="4187952"/>
            <a:ext cx="1005840" cy="13716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800" b="0">
                <a:solidFill>
                  <a:srgbClr val="A5ADB8"/>
                </a:solidFill>
                <a:latin typeface="SF Pro Display"/>
              </a:rPr>
              <a:t>recover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144768" y="5074920"/>
            <a:ext cx="4754880" cy="27432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  <a:latin typeface="SF Pro Display"/>
              </a:rPr>
              <a:t>Context is the spine; AI is a service layer, not the destination.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217920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900" b="1">
                <a:solidFill>
                  <a:srgbClr val="45DD91"/>
                </a:solidFill>
                <a:latin typeface="SF Mono"/>
              </a:rPr>
              <a:t>03  / 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789920" cy="566928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SF Pro Display"/>
              </a:rPr>
              <a:t>From browser action to edge inference.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0881360" cy="32004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200" b="0">
                <a:solidFill>
                  <a:srgbClr val="A5ADB8"/>
                </a:solidFill>
                <a:latin typeface="SF Pro Display"/>
              </a:rPr>
              <a:t>The technical story is simple enough to audit and concrete enough to validate on Snapdragon hardware.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5120640" cy="164592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800" b="1">
                <a:solidFill>
                  <a:srgbClr val="5B6470"/>
                </a:solidFill>
                <a:latin typeface="SF Mono"/>
              </a:rPr>
              <a:t>CODESYNC-AI  /  SOLUTION SUBMISSION  / 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6473952"/>
            <a:ext cx="5074920" cy="164592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r"/>
            <a:r>
              <a:rPr sz="800" b="0">
                <a:solidFill>
                  <a:srgbClr val="5B6470"/>
                </a:solidFill>
                <a:latin typeface="SF Mono"/>
              </a:rPr>
              <a:t>Repo-grounded • verified / wired / next clearly separated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2286000" cy="1828800"/>
          </a:xfrm>
          <a:prstGeom prst="roundRect">
            <a:avLst>
              <a:gd name="adj" fmla="val 8000"/>
            </a:avLst>
          </a:prstGeom>
          <a:solidFill>
            <a:srgbClr val="0F1217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2" y="1920239"/>
            <a:ext cx="365760" cy="365760"/>
          </a:xfrm>
          <a:prstGeom prst="ellipse">
            <a:avLst/>
          </a:prstGeom>
          <a:solidFill>
            <a:srgbClr val="181C22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" y="1967788"/>
            <a:ext cx="314553" cy="263347"/>
          </a:xfrm>
          <a:prstGeom prst="rect">
            <a:avLst/>
          </a:prstGeom>
          <a:noFill/>
        </p:spPr>
        <p:txBody>
          <a:bodyPr wrap="none" lIns="13716" rIns="13716" tIns="13716" bIns="13716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rial"/>
              </a:rPr>
              <a:t>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920240"/>
            <a:ext cx="1325880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000" b="1">
                <a:solidFill>
                  <a:srgbClr val="F5F7FA"/>
                </a:solidFill>
                <a:latin typeface="SF Mono"/>
              </a:rPr>
              <a:t>BROWSER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542032"/>
            <a:ext cx="1783080" cy="54864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SF Pro Display"/>
              </a:rPr>
              <a:t>lesson UI
editor • search • practice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26080" y="2651760"/>
            <a:ext cx="475488" cy="0"/>
          </a:xfrm>
          <a:prstGeom prst="line">
            <a:avLst/>
          </a:prstGeom>
          <a:ln w="19050">
            <a:solidFill>
              <a:srgbClr val="2D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063239" y="2423160"/>
            <a:ext cx="256032" cy="27432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ctr"/>
            <a:r>
              <a:rPr sz="1600" b="1">
                <a:solidFill>
                  <a:srgbClr val="5B6470"/>
                </a:solidFill>
                <a:latin typeface="SF Mono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1737360"/>
            <a:ext cx="2286000" cy="1828800"/>
          </a:xfrm>
          <a:prstGeom prst="roundRect">
            <a:avLst>
              <a:gd name="adj" fmla="val 8000"/>
            </a:avLst>
          </a:prstGeom>
          <a:solidFill>
            <a:srgbClr val="0F1217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66159" y="1920239"/>
            <a:ext cx="365760" cy="365760"/>
          </a:xfrm>
          <a:prstGeom prst="ellipse">
            <a:avLst/>
          </a:prstGeom>
          <a:solidFill>
            <a:srgbClr val="181C22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91763" y="1967788"/>
            <a:ext cx="314553" cy="263347"/>
          </a:xfrm>
          <a:prstGeom prst="rect">
            <a:avLst/>
          </a:prstGeom>
          <a:noFill/>
        </p:spPr>
        <p:txBody>
          <a:bodyPr wrap="none" lIns="13716" rIns="13716" tIns="13716" bIns="13716" anchor="ctr">
            <a:spAutoFit/>
          </a:bodyPr>
          <a:lstStyle/>
          <a:p>
            <a:pPr algn="ctr"/>
            <a:r>
              <a:rPr sz="1200" b="1">
                <a:solidFill>
                  <a:srgbClr val="5AA0FF"/>
                </a:solidFill>
                <a:latin typeface="Arial"/>
              </a:rPr>
              <a:t>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41648" y="1920240"/>
            <a:ext cx="1325880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000" b="1">
                <a:solidFill>
                  <a:srgbClr val="5AA0FF"/>
                </a:solidFill>
                <a:latin typeface="SF Mono"/>
              </a:rPr>
              <a:t>FASTAPI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0168" y="2542032"/>
            <a:ext cx="1783080" cy="54864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SF Pro Display"/>
              </a:rPr>
              <a:t>local API
capture • search • run • check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87568" y="2651760"/>
            <a:ext cx="475488" cy="0"/>
          </a:xfrm>
          <a:prstGeom prst="line">
            <a:avLst/>
          </a:prstGeom>
          <a:ln w="19050">
            <a:solidFill>
              <a:srgbClr val="2D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824727" y="2423160"/>
            <a:ext cx="256032" cy="27432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ctr"/>
            <a:r>
              <a:rPr sz="1600" b="1">
                <a:solidFill>
                  <a:srgbClr val="5B6470"/>
                </a:solidFill>
                <a:latin typeface="SF Mono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1737360"/>
            <a:ext cx="2286000" cy="1828800"/>
          </a:xfrm>
          <a:prstGeom prst="roundRect">
            <a:avLst>
              <a:gd name="adj" fmla="val 8000"/>
            </a:avLst>
          </a:prstGeom>
          <a:solidFill>
            <a:srgbClr val="0F1217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27648" y="1920239"/>
            <a:ext cx="365760" cy="365760"/>
          </a:xfrm>
          <a:prstGeom prst="ellipse">
            <a:avLst/>
          </a:prstGeom>
          <a:solidFill>
            <a:srgbClr val="181C22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3251" y="1967788"/>
            <a:ext cx="314553" cy="263347"/>
          </a:xfrm>
          <a:prstGeom prst="rect">
            <a:avLst/>
          </a:prstGeom>
          <a:noFill/>
        </p:spPr>
        <p:txBody>
          <a:bodyPr wrap="none" lIns="13716" rIns="13716" tIns="13716" bIns="13716" anchor="ctr">
            <a:spAutoFit/>
          </a:bodyPr>
          <a:lstStyle/>
          <a:p>
            <a:pPr algn="ctr"/>
            <a:r>
              <a:rPr sz="1200" b="1">
                <a:solidFill>
                  <a:srgbClr val="45DD91"/>
                </a:solidFill>
                <a:latin typeface="Arial"/>
              </a:rPr>
              <a:t>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3136" y="1920240"/>
            <a:ext cx="1325880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000" b="1">
                <a:solidFill>
                  <a:srgbClr val="45DD91"/>
                </a:solidFill>
                <a:latin typeface="SF Mono"/>
              </a:rPr>
              <a:t>ONNX RUNTIME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6" y="2542032"/>
            <a:ext cx="1783080" cy="54864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SF Pro Display"/>
              </a:rPr>
              <a:t>OCR / models
CPU • QNN provider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9056" y="2651760"/>
            <a:ext cx="475488" cy="0"/>
          </a:xfrm>
          <a:prstGeom prst="line">
            <a:avLst/>
          </a:prstGeom>
          <a:ln w="19050">
            <a:solidFill>
              <a:srgbClr val="2D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586216" y="2423160"/>
            <a:ext cx="256032" cy="27432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ctr"/>
            <a:r>
              <a:rPr sz="1600" b="1">
                <a:solidFill>
                  <a:srgbClr val="5B6470"/>
                </a:solidFill>
                <a:latin typeface="SF Mono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24544" y="1737360"/>
            <a:ext cx="2286000" cy="1828800"/>
          </a:xfrm>
          <a:prstGeom prst="roundRect">
            <a:avLst>
              <a:gd name="adj" fmla="val 8000"/>
            </a:avLst>
          </a:prstGeom>
          <a:solidFill>
            <a:srgbClr val="0F1217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089136" y="1920239"/>
            <a:ext cx="365760" cy="365760"/>
          </a:xfrm>
          <a:prstGeom prst="ellipse">
            <a:avLst/>
          </a:prstGeom>
          <a:solidFill>
            <a:srgbClr val="181C22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14739" y="1967788"/>
            <a:ext cx="314553" cy="263347"/>
          </a:xfrm>
          <a:prstGeom prst="rect">
            <a:avLst/>
          </a:prstGeom>
          <a:noFill/>
        </p:spPr>
        <p:txBody>
          <a:bodyPr wrap="none" lIns="13716" rIns="13716" tIns="13716" bIns="13716" anchor="ctr">
            <a:spAutoFit/>
          </a:bodyPr>
          <a:lstStyle/>
          <a:p>
            <a:pPr algn="ctr"/>
            <a:r>
              <a:rPr sz="1200" b="1">
                <a:solidFill>
                  <a:srgbClr val="F5BA48"/>
                </a:solidFill>
                <a:latin typeface="Arial"/>
              </a:rPr>
              <a:t>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64624" y="1920240"/>
            <a:ext cx="1325880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000" b="1">
                <a:solidFill>
                  <a:srgbClr val="F5BA48"/>
                </a:solidFill>
                <a:latin typeface="SF Mono"/>
              </a:rPr>
              <a:t>SNAPDRAGON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53144" y="2542032"/>
            <a:ext cx="1783080" cy="54864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100" b="0">
                <a:solidFill>
                  <a:srgbClr val="F5F7FA"/>
                </a:solidFill>
                <a:latin typeface="SF Pro Display"/>
              </a:rPr>
              <a:t>NPU validation
measure • optimize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3977639"/>
            <a:ext cx="6903720" cy="1325880"/>
          </a:xfrm>
          <a:prstGeom prst="roundRect">
            <a:avLst>
              <a:gd name="adj" fmla="val 8000"/>
            </a:avLst>
          </a:prstGeom>
          <a:solidFill>
            <a:srgbClr val="14181E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251960"/>
            <a:ext cx="1280160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900" b="1">
                <a:solidFill>
                  <a:srgbClr val="45DD91"/>
                </a:solidFill>
                <a:latin typeface="SF Mono"/>
              </a:rPr>
              <a:t>RUNTIME BRANCH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187952"/>
            <a:ext cx="1234440" cy="22860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  <a:latin typeface="SF Pro Display"/>
              </a:rPr>
              <a:t>CPU provider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4462272"/>
            <a:ext cx="1234440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900" b="1">
                <a:solidFill>
                  <a:srgbClr val="45DD91"/>
                </a:solidFill>
                <a:latin typeface="SF Mono"/>
              </a:rPr>
              <a:t>validated baseline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520440" y="4553712"/>
            <a:ext cx="640080" cy="0"/>
          </a:xfrm>
          <a:prstGeom prst="line">
            <a:avLst/>
          </a:prstGeom>
          <a:ln w="15240">
            <a:solidFill>
              <a:srgbClr val="2D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315968" y="4187952"/>
            <a:ext cx="1234440" cy="22860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  <a:latin typeface="SF Pro Display"/>
              </a:rPr>
              <a:t>QNN provider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15968" y="4462272"/>
            <a:ext cx="2423160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900" b="1">
                <a:solidFill>
                  <a:srgbClr val="F5BA48"/>
                </a:solidFill>
                <a:latin typeface="SF Mono"/>
              </a:rPr>
              <a:t>wired path • device validation next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18120" y="3977639"/>
            <a:ext cx="3703320" cy="1325880"/>
          </a:xfrm>
          <a:prstGeom prst="roundRect">
            <a:avLst>
              <a:gd name="adj" fmla="val 8000"/>
            </a:avLst>
          </a:prstGeom>
          <a:solidFill>
            <a:srgbClr val="0F1217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92440" y="4224528"/>
            <a:ext cx="1554480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900" b="1">
                <a:solidFill>
                  <a:srgbClr val="F5BA48"/>
                </a:solidFill>
                <a:latin typeface="SF Mono"/>
              </a:rPr>
              <a:t>STATUS DISCIPLINE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92440" y="4572000"/>
            <a:ext cx="685800" cy="256032"/>
          </a:xfrm>
          <a:prstGeom prst="roundRect">
            <a:avLst>
              <a:gd name="adj" fmla="val 8000"/>
            </a:avLst>
          </a:prstGeom>
          <a:solidFill>
            <a:srgbClr val="12241D"/>
          </a:solidFill>
          <a:ln>
            <a:solidFill>
              <a:srgbClr val="1224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92440" y="4613148"/>
            <a:ext cx="685800" cy="146304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ctr"/>
            <a:r>
              <a:rPr sz="800" b="1">
                <a:solidFill>
                  <a:srgbClr val="45DD91"/>
                </a:solidFill>
                <a:latin typeface="SF Mono"/>
              </a:rPr>
              <a:t>VERIFIED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680" y="4608576"/>
            <a:ext cx="914400" cy="146304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900" b="1">
                <a:solidFill>
                  <a:srgbClr val="F5F7FA"/>
                </a:solidFill>
                <a:latin typeface="SF Mono"/>
              </a:rPr>
              <a:t>CPU workflow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875520" y="4572000"/>
            <a:ext cx="566928" cy="256032"/>
          </a:xfrm>
          <a:prstGeom prst="roundRect">
            <a:avLst>
              <a:gd name="adj" fmla="val 8000"/>
            </a:avLst>
          </a:prstGeom>
          <a:solidFill>
            <a:srgbClr val="121B2B"/>
          </a:solidFill>
          <a:ln>
            <a:solidFill>
              <a:srgbClr val="121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75520" y="4613148"/>
            <a:ext cx="566928" cy="146304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ctr"/>
            <a:r>
              <a:rPr sz="800" b="1">
                <a:solidFill>
                  <a:srgbClr val="5AA0FF"/>
                </a:solidFill>
                <a:latin typeface="SF Mono"/>
              </a:rPr>
              <a:t>WIRED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43032" y="4608576"/>
            <a:ext cx="502920" cy="146304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900" b="1">
                <a:solidFill>
                  <a:srgbClr val="F5F7FA"/>
                </a:solidFill>
                <a:latin typeface="SF Mono"/>
              </a:rPr>
              <a:t>QNN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5650992"/>
            <a:ext cx="10835640" cy="438912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900" b="0">
                <a:solidFill>
                  <a:srgbClr val="A5ADB8"/>
                </a:solidFill>
                <a:latin typeface="SF Pro Display"/>
              </a:rPr>
              <a:t>Qualcomm AI Hub supports ONNX Runtime / QNN targeting and device profiling; the submission’s next step is to run this project’s models through that measured path.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217920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900" b="1">
                <a:solidFill>
                  <a:srgbClr val="45DD91"/>
                </a:solidFill>
                <a:latin typeface="SF Mono"/>
              </a:rPr>
              <a:t>04  /  DEMO &amp;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789920" cy="566928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SF Pro Display"/>
              </a:rPr>
              <a:t>Show the product working, then show the measurement.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0881360" cy="32004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200" b="0">
                <a:solidFill>
                  <a:srgbClr val="A5ADB8"/>
                </a:solidFill>
                <a:latin typeface="SF Pro Display"/>
              </a:rPr>
              <a:t>A reviewer should be able to distinguish the user experience, engineering proof, and edge-AI validation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5120640" cy="164592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800" b="1">
                <a:solidFill>
                  <a:srgbClr val="5B6470"/>
                </a:solidFill>
                <a:latin typeface="SF Mono"/>
              </a:rPr>
              <a:t>CODESYNC-AI  /  SOLUTION SUBMISSION  / 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6473952"/>
            <a:ext cx="5074920" cy="164592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r"/>
            <a:r>
              <a:rPr sz="800" b="0">
                <a:solidFill>
                  <a:srgbClr val="5B6470"/>
                </a:solidFill>
                <a:latin typeface="SF Mono"/>
              </a:rPr>
              <a:t>Repo-grounded • verified / wired / next clearly separated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54480"/>
            <a:ext cx="1627632" cy="1234440"/>
          </a:xfrm>
          <a:prstGeom prst="roundRect">
            <a:avLst>
              <a:gd name="adj" fmla="val 8000"/>
            </a:avLst>
          </a:prstGeom>
          <a:solidFill>
            <a:srgbClr val="0F1217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1737360"/>
            <a:ext cx="274320" cy="146304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800" b="1">
                <a:solidFill>
                  <a:srgbClr val="45DD91"/>
                </a:solidFill>
                <a:latin typeface="SF Mon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1993392"/>
            <a:ext cx="1170432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000" b="1">
                <a:solidFill>
                  <a:srgbClr val="F5F7FA"/>
                </a:solidFill>
                <a:latin typeface="SF Mono"/>
              </a:rPr>
              <a:t>OPEN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2331720"/>
            <a:ext cx="1097280" cy="146304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800" b="0">
                <a:solidFill>
                  <a:srgbClr val="A5ADB8"/>
                </a:solidFill>
                <a:latin typeface="SF Pro Display"/>
              </a:rPr>
              <a:t>lesson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21992" y="2157984"/>
            <a:ext cx="265176" cy="0"/>
          </a:xfrm>
          <a:prstGeom prst="line">
            <a:avLst/>
          </a:prstGeom>
          <a:ln w="15240">
            <a:solidFill>
              <a:srgbClr val="2D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87168" y="1554480"/>
            <a:ext cx="1627632" cy="1234440"/>
          </a:xfrm>
          <a:prstGeom prst="roundRect">
            <a:avLst>
              <a:gd name="adj" fmla="val 8000"/>
            </a:avLst>
          </a:prstGeom>
          <a:solidFill>
            <a:srgbClr val="0F1217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737360"/>
            <a:ext cx="274320" cy="146304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800" b="1">
                <a:solidFill>
                  <a:srgbClr val="45DD91"/>
                </a:solidFill>
                <a:latin typeface="SF Mon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3472" y="1993392"/>
            <a:ext cx="1170432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000" b="1">
                <a:solidFill>
                  <a:srgbClr val="F5F7FA"/>
                </a:solidFill>
                <a:latin typeface="SF Mono"/>
              </a:rPr>
              <a:t>PAUSE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3472" y="2331720"/>
            <a:ext cx="1097280" cy="146304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800" b="0">
                <a:solidFill>
                  <a:srgbClr val="A5ADB8"/>
                </a:solidFill>
                <a:latin typeface="SF Pro Display"/>
              </a:rPr>
              <a:t>code frame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14800" y="2157984"/>
            <a:ext cx="265175" cy="0"/>
          </a:xfrm>
          <a:prstGeom prst="line">
            <a:avLst/>
          </a:prstGeom>
          <a:ln w="15240">
            <a:solidFill>
              <a:srgbClr val="2D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79976" y="1554480"/>
            <a:ext cx="1627632" cy="1234440"/>
          </a:xfrm>
          <a:prstGeom prst="roundRect">
            <a:avLst>
              <a:gd name="adj" fmla="val 8000"/>
            </a:avLst>
          </a:prstGeom>
          <a:solidFill>
            <a:srgbClr val="0F1217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1737360"/>
            <a:ext cx="274320" cy="146304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800" b="1">
                <a:solidFill>
                  <a:srgbClr val="45DD91"/>
                </a:solidFill>
                <a:latin typeface="SF Mon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993392"/>
            <a:ext cx="1170432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000" b="1">
                <a:solidFill>
                  <a:srgbClr val="F5F7FA"/>
                </a:solidFill>
                <a:latin typeface="SF Mono"/>
              </a:rPr>
              <a:t>CAPTURE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331720"/>
            <a:ext cx="1097280" cy="146304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800" b="0">
                <a:solidFill>
                  <a:srgbClr val="A5ADB8"/>
                </a:solidFill>
                <a:latin typeface="SF Pro Display"/>
              </a:rPr>
              <a:t>OCR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07608" y="2157984"/>
            <a:ext cx="265175" cy="0"/>
          </a:xfrm>
          <a:prstGeom prst="line">
            <a:avLst/>
          </a:prstGeom>
          <a:ln w="15240">
            <a:solidFill>
              <a:srgbClr val="2D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72783" y="1554480"/>
            <a:ext cx="1627632" cy="1234440"/>
          </a:xfrm>
          <a:prstGeom prst="roundRect">
            <a:avLst>
              <a:gd name="adj" fmla="val 8000"/>
            </a:avLst>
          </a:prstGeom>
          <a:solidFill>
            <a:srgbClr val="0F1217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1737360"/>
            <a:ext cx="274320" cy="146304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800" b="1">
                <a:solidFill>
                  <a:srgbClr val="45DD91"/>
                </a:solidFill>
                <a:latin typeface="SF Mon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1993392"/>
            <a:ext cx="1170432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000" b="1">
                <a:solidFill>
                  <a:srgbClr val="F5F7FA"/>
                </a:solidFill>
                <a:latin typeface="SF Mono"/>
              </a:rPr>
              <a:t>TRACE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2331720"/>
            <a:ext cx="1097280" cy="146304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800" b="0">
                <a:solidFill>
                  <a:srgbClr val="A5ADB8"/>
                </a:solidFill>
                <a:latin typeface="SF Pro Display"/>
              </a:rPr>
              <a:t>timestamp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900415" y="2157984"/>
            <a:ext cx="265177" cy="0"/>
          </a:xfrm>
          <a:prstGeom prst="line">
            <a:avLst/>
          </a:prstGeom>
          <a:ln w="15240">
            <a:solidFill>
              <a:srgbClr val="2D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165592" y="1554480"/>
            <a:ext cx="1627632" cy="1234440"/>
          </a:xfrm>
          <a:prstGeom prst="roundRect">
            <a:avLst>
              <a:gd name="adj" fmla="val 8000"/>
            </a:avLst>
          </a:prstGeom>
          <a:solidFill>
            <a:srgbClr val="0F1217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11896" y="1737360"/>
            <a:ext cx="274320" cy="146304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800" b="1">
                <a:solidFill>
                  <a:srgbClr val="45DD91"/>
                </a:solidFill>
                <a:latin typeface="SF Mono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1896" y="1993392"/>
            <a:ext cx="1170432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000" b="1">
                <a:solidFill>
                  <a:srgbClr val="F5F7FA"/>
                </a:solidFill>
                <a:latin typeface="SF Mono"/>
              </a:rPr>
              <a:t>PRACTICE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1896" y="2331720"/>
            <a:ext cx="1097280" cy="146304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800" b="0">
                <a:solidFill>
                  <a:srgbClr val="A5ADB8"/>
                </a:solidFill>
                <a:latin typeface="SF Pro Display"/>
              </a:rPr>
              <a:t>checkpoint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793224" y="2157984"/>
            <a:ext cx="265176" cy="0"/>
          </a:xfrm>
          <a:prstGeom prst="line">
            <a:avLst/>
          </a:prstGeom>
          <a:ln w="15240">
            <a:solidFill>
              <a:srgbClr val="2D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058400" y="1554480"/>
            <a:ext cx="1627632" cy="1234440"/>
          </a:xfrm>
          <a:prstGeom prst="roundRect">
            <a:avLst>
              <a:gd name="adj" fmla="val 8000"/>
            </a:avLst>
          </a:prstGeom>
          <a:solidFill>
            <a:srgbClr val="0F1217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04704" y="1737360"/>
            <a:ext cx="274320" cy="146304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800" b="1">
                <a:solidFill>
                  <a:srgbClr val="45DD91"/>
                </a:solidFill>
                <a:latin typeface="SF Mono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04704" y="1993392"/>
            <a:ext cx="1170432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000" b="1">
                <a:solidFill>
                  <a:srgbClr val="F5F7FA"/>
                </a:solidFill>
                <a:latin typeface="SF Mono"/>
              </a:rPr>
              <a:t>RUN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04704" y="2331720"/>
            <a:ext cx="1097280" cy="146304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800" b="0">
                <a:solidFill>
                  <a:srgbClr val="A5ADB8"/>
                </a:solidFill>
                <a:latin typeface="SF Pro Display"/>
              </a:rPr>
              <a:t>explain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3246120"/>
            <a:ext cx="3529584" cy="1874519"/>
          </a:xfrm>
          <a:prstGeom prst="roundRect">
            <a:avLst>
              <a:gd name="adj" fmla="val 8000"/>
            </a:avLst>
          </a:prstGeom>
          <a:solidFill>
            <a:srgbClr val="14181E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" y="3511296"/>
            <a:ext cx="1554480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900" b="1">
                <a:solidFill>
                  <a:srgbClr val="45DD91"/>
                </a:solidFill>
                <a:latin typeface="SF Mono"/>
              </a:rPr>
              <a:t>BUILT</a:t>
            </a:r>
          </a:p>
        </p:txBody>
      </p:sp>
      <p:sp>
        <p:nvSpPr>
          <p:cNvPr id="38" name="Oval 37"/>
          <p:cNvSpPr/>
          <p:nvPr/>
        </p:nvSpPr>
        <p:spPr>
          <a:xfrm>
            <a:off x="877824" y="3831336"/>
            <a:ext cx="164592" cy="164592"/>
          </a:xfrm>
          <a:prstGeom prst="ellipse">
            <a:avLst/>
          </a:prstGeom>
          <a:solidFill>
            <a:srgbClr val="181C22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9345" y="3852732"/>
            <a:ext cx="141549" cy="118506"/>
          </a:xfrm>
          <a:prstGeom prst="rect">
            <a:avLst/>
          </a:prstGeom>
          <a:noFill/>
        </p:spPr>
        <p:txBody>
          <a:bodyPr wrap="none" lIns="13716" rIns="13716" tIns="13716" bIns="13716" anchor="ctr">
            <a:spAutoFit/>
          </a:bodyPr>
          <a:lstStyle/>
          <a:p>
            <a:pPr algn="ctr"/>
            <a:r>
              <a:rPr sz="1200" b="1">
                <a:solidFill>
                  <a:srgbClr val="45DD91"/>
                </a:solidFill>
                <a:latin typeface="Arial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70432" y="3831336"/>
            <a:ext cx="2423160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950" b="0">
                <a:solidFill>
                  <a:srgbClr val="F5F7FA"/>
                </a:solidFill>
                <a:latin typeface="SF Pro Display"/>
              </a:rPr>
              <a:t>Offline lesson pack</a:t>
            </a:r>
          </a:p>
        </p:txBody>
      </p:sp>
      <p:sp>
        <p:nvSpPr>
          <p:cNvPr id="41" name="Oval 40"/>
          <p:cNvSpPr/>
          <p:nvPr/>
        </p:nvSpPr>
        <p:spPr>
          <a:xfrm>
            <a:off x="877824" y="4078224"/>
            <a:ext cx="164592" cy="164592"/>
          </a:xfrm>
          <a:prstGeom prst="ellipse">
            <a:avLst/>
          </a:prstGeom>
          <a:solidFill>
            <a:srgbClr val="181C22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9345" y="4099620"/>
            <a:ext cx="141549" cy="118506"/>
          </a:xfrm>
          <a:prstGeom prst="rect">
            <a:avLst/>
          </a:prstGeom>
          <a:noFill/>
        </p:spPr>
        <p:txBody>
          <a:bodyPr wrap="none" lIns="13716" rIns="13716" tIns="13716" bIns="13716" anchor="ctr">
            <a:spAutoFit/>
          </a:bodyPr>
          <a:lstStyle/>
          <a:p>
            <a:pPr algn="ctr"/>
            <a:r>
              <a:rPr sz="1200" b="1">
                <a:solidFill>
                  <a:srgbClr val="45DD91"/>
                </a:solidFill>
                <a:latin typeface="Arial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70432" y="4078224"/>
            <a:ext cx="2423160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950" b="0">
                <a:solidFill>
                  <a:srgbClr val="F5F7FA"/>
                </a:solidFill>
                <a:latin typeface="SF Pro Display"/>
              </a:rPr>
              <a:t>Local OCR capture</a:t>
            </a:r>
          </a:p>
        </p:txBody>
      </p:sp>
      <p:sp>
        <p:nvSpPr>
          <p:cNvPr id="44" name="Oval 43"/>
          <p:cNvSpPr/>
          <p:nvPr/>
        </p:nvSpPr>
        <p:spPr>
          <a:xfrm>
            <a:off x="877824" y="4325112"/>
            <a:ext cx="164592" cy="164592"/>
          </a:xfrm>
          <a:prstGeom prst="ellipse">
            <a:avLst/>
          </a:prstGeom>
          <a:solidFill>
            <a:srgbClr val="181C22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9345" y="4346508"/>
            <a:ext cx="141549" cy="118506"/>
          </a:xfrm>
          <a:prstGeom prst="rect">
            <a:avLst/>
          </a:prstGeom>
          <a:noFill/>
        </p:spPr>
        <p:txBody>
          <a:bodyPr wrap="none" lIns="13716" rIns="13716" tIns="13716" bIns="13716" anchor="ctr">
            <a:spAutoFit/>
          </a:bodyPr>
          <a:lstStyle/>
          <a:p>
            <a:pPr algn="ctr"/>
            <a:r>
              <a:rPr sz="1200" b="1">
                <a:solidFill>
                  <a:srgbClr val="45DD91"/>
                </a:solidFill>
                <a:latin typeface="Arial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70432" y="4325112"/>
            <a:ext cx="2423160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950" b="0">
                <a:solidFill>
                  <a:srgbClr val="F5F7FA"/>
                </a:solidFill>
                <a:latin typeface="SF Pro Display"/>
              </a:rPr>
              <a:t>Timeline linking</a:t>
            </a:r>
          </a:p>
        </p:txBody>
      </p:sp>
      <p:sp>
        <p:nvSpPr>
          <p:cNvPr id="47" name="Oval 46"/>
          <p:cNvSpPr/>
          <p:nvPr/>
        </p:nvSpPr>
        <p:spPr>
          <a:xfrm>
            <a:off x="877824" y="4572000"/>
            <a:ext cx="164592" cy="164592"/>
          </a:xfrm>
          <a:prstGeom prst="ellipse">
            <a:avLst/>
          </a:prstGeom>
          <a:solidFill>
            <a:srgbClr val="181C22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9345" y="4593396"/>
            <a:ext cx="141549" cy="118506"/>
          </a:xfrm>
          <a:prstGeom prst="rect">
            <a:avLst/>
          </a:prstGeom>
          <a:noFill/>
        </p:spPr>
        <p:txBody>
          <a:bodyPr wrap="none" lIns="13716" rIns="13716" tIns="13716" bIns="13716" anchor="ctr">
            <a:spAutoFit/>
          </a:bodyPr>
          <a:lstStyle/>
          <a:p>
            <a:pPr algn="ctr"/>
            <a:r>
              <a:rPr sz="1200" b="1">
                <a:solidFill>
                  <a:srgbClr val="45DD91"/>
                </a:solidFill>
                <a:latin typeface="Arial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70432" y="4572000"/>
            <a:ext cx="2423160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950" b="0">
                <a:solidFill>
                  <a:srgbClr val="F5F7FA"/>
                </a:solidFill>
                <a:latin typeface="SF Pro Display"/>
              </a:rPr>
              <a:t>Search + checkpoints</a:t>
            </a:r>
          </a:p>
        </p:txBody>
      </p:sp>
      <p:sp>
        <p:nvSpPr>
          <p:cNvPr id="50" name="Oval 49"/>
          <p:cNvSpPr/>
          <p:nvPr/>
        </p:nvSpPr>
        <p:spPr>
          <a:xfrm>
            <a:off x="877824" y="4818888"/>
            <a:ext cx="164592" cy="164592"/>
          </a:xfrm>
          <a:prstGeom prst="ellipse">
            <a:avLst/>
          </a:prstGeom>
          <a:solidFill>
            <a:srgbClr val="181C22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89345" y="4840284"/>
            <a:ext cx="141549" cy="118506"/>
          </a:xfrm>
          <a:prstGeom prst="rect">
            <a:avLst/>
          </a:prstGeom>
          <a:noFill/>
        </p:spPr>
        <p:txBody>
          <a:bodyPr wrap="none" lIns="13716" rIns="13716" tIns="13716" bIns="13716" anchor="ctr">
            <a:spAutoFit/>
          </a:bodyPr>
          <a:lstStyle/>
          <a:p>
            <a:pPr algn="ctr"/>
            <a:r>
              <a:rPr sz="1200" b="1">
                <a:solidFill>
                  <a:srgbClr val="45DD91"/>
                </a:solidFill>
                <a:latin typeface="Arial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70432" y="4818888"/>
            <a:ext cx="2423160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950" b="0">
                <a:solidFill>
                  <a:srgbClr val="F5F7FA"/>
                </a:solidFill>
                <a:latin typeface="SF Pro Display"/>
              </a:rPr>
              <a:t>Run + error explanation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416552" y="3246120"/>
            <a:ext cx="3529584" cy="1874519"/>
          </a:xfrm>
          <a:prstGeom prst="roundRect">
            <a:avLst>
              <a:gd name="adj" fmla="val 8000"/>
            </a:avLst>
          </a:prstGeom>
          <a:solidFill>
            <a:srgbClr val="14181E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72584" y="3511296"/>
            <a:ext cx="1554480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900" b="1">
                <a:solidFill>
                  <a:srgbClr val="5AA0FF"/>
                </a:solidFill>
                <a:latin typeface="SF Mono"/>
              </a:rPr>
              <a:t>OBSERVE</a:t>
            </a:r>
          </a:p>
        </p:txBody>
      </p:sp>
      <p:sp>
        <p:nvSpPr>
          <p:cNvPr id="55" name="Oval 54"/>
          <p:cNvSpPr/>
          <p:nvPr/>
        </p:nvSpPr>
        <p:spPr>
          <a:xfrm>
            <a:off x="4700016" y="3831336"/>
            <a:ext cx="164592" cy="164592"/>
          </a:xfrm>
          <a:prstGeom prst="ellipse">
            <a:avLst/>
          </a:prstGeom>
          <a:solidFill>
            <a:srgbClr val="181C22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11537" y="3852732"/>
            <a:ext cx="141549" cy="118506"/>
          </a:xfrm>
          <a:prstGeom prst="rect">
            <a:avLst/>
          </a:prstGeom>
          <a:noFill/>
        </p:spPr>
        <p:txBody>
          <a:bodyPr wrap="none" lIns="13716" rIns="13716" tIns="13716" bIns="13716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rial"/>
              </a:rP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92624" y="3831336"/>
            <a:ext cx="2423160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950" b="0">
                <a:solidFill>
                  <a:srgbClr val="F5F7FA"/>
                </a:solidFill>
                <a:latin typeface="SF Pro Display"/>
              </a:rPr>
              <a:t>Task time</a:t>
            </a:r>
          </a:p>
        </p:txBody>
      </p:sp>
      <p:sp>
        <p:nvSpPr>
          <p:cNvPr id="58" name="Oval 57"/>
          <p:cNvSpPr/>
          <p:nvPr/>
        </p:nvSpPr>
        <p:spPr>
          <a:xfrm>
            <a:off x="4700016" y="4078224"/>
            <a:ext cx="164592" cy="164592"/>
          </a:xfrm>
          <a:prstGeom prst="ellipse">
            <a:avLst/>
          </a:prstGeom>
          <a:solidFill>
            <a:srgbClr val="181C22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11537" y="4099620"/>
            <a:ext cx="141549" cy="118506"/>
          </a:xfrm>
          <a:prstGeom prst="rect">
            <a:avLst/>
          </a:prstGeom>
          <a:noFill/>
        </p:spPr>
        <p:txBody>
          <a:bodyPr wrap="none" lIns="13716" rIns="13716" tIns="13716" bIns="13716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rial"/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92624" y="4078224"/>
            <a:ext cx="2423160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950" b="0">
                <a:solidFill>
                  <a:srgbClr val="F5F7FA"/>
                </a:solidFill>
                <a:latin typeface="SF Pro Display"/>
              </a:rPr>
              <a:t>Context switches</a:t>
            </a:r>
          </a:p>
        </p:txBody>
      </p:sp>
      <p:sp>
        <p:nvSpPr>
          <p:cNvPr id="61" name="Oval 60"/>
          <p:cNvSpPr/>
          <p:nvPr/>
        </p:nvSpPr>
        <p:spPr>
          <a:xfrm>
            <a:off x="4700016" y="4325112"/>
            <a:ext cx="164592" cy="164592"/>
          </a:xfrm>
          <a:prstGeom prst="ellipse">
            <a:avLst/>
          </a:prstGeom>
          <a:solidFill>
            <a:srgbClr val="181C22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11537" y="4346508"/>
            <a:ext cx="141549" cy="118506"/>
          </a:xfrm>
          <a:prstGeom prst="rect">
            <a:avLst/>
          </a:prstGeom>
          <a:noFill/>
        </p:spPr>
        <p:txBody>
          <a:bodyPr wrap="none" lIns="13716" rIns="13716" tIns="13716" bIns="13716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rial"/>
              </a:rPr>
              <a:t>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92624" y="4325112"/>
            <a:ext cx="2423160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950" b="0">
                <a:solidFill>
                  <a:srgbClr val="F5F7FA"/>
                </a:solidFill>
                <a:latin typeface="SF Pro Display"/>
              </a:rPr>
              <a:t>OCR correction rate</a:t>
            </a:r>
          </a:p>
        </p:txBody>
      </p:sp>
      <p:sp>
        <p:nvSpPr>
          <p:cNvPr id="64" name="Oval 63"/>
          <p:cNvSpPr/>
          <p:nvPr/>
        </p:nvSpPr>
        <p:spPr>
          <a:xfrm>
            <a:off x="4700016" y="4572000"/>
            <a:ext cx="164592" cy="164592"/>
          </a:xfrm>
          <a:prstGeom prst="ellipse">
            <a:avLst/>
          </a:prstGeom>
          <a:solidFill>
            <a:srgbClr val="181C22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711537" y="4593396"/>
            <a:ext cx="141549" cy="118506"/>
          </a:xfrm>
          <a:prstGeom prst="rect">
            <a:avLst/>
          </a:prstGeom>
          <a:noFill/>
        </p:spPr>
        <p:txBody>
          <a:bodyPr wrap="none" lIns="13716" rIns="13716" tIns="13716" bIns="13716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rial"/>
              </a:rPr>
              <a:t>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92624" y="4572000"/>
            <a:ext cx="2423160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950" b="0">
                <a:solidFill>
                  <a:srgbClr val="F5F7FA"/>
                </a:solidFill>
                <a:latin typeface="SF Pro Display"/>
              </a:rPr>
              <a:t>Search relevance</a:t>
            </a:r>
          </a:p>
        </p:txBody>
      </p:sp>
      <p:sp>
        <p:nvSpPr>
          <p:cNvPr id="67" name="Oval 66"/>
          <p:cNvSpPr/>
          <p:nvPr/>
        </p:nvSpPr>
        <p:spPr>
          <a:xfrm>
            <a:off x="4700016" y="4818888"/>
            <a:ext cx="164592" cy="164592"/>
          </a:xfrm>
          <a:prstGeom prst="ellipse">
            <a:avLst/>
          </a:prstGeom>
          <a:solidFill>
            <a:srgbClr val="181C22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11537" y="4840284"/>
            <a:ext cx="141549" cy="118506"/>
          </a:xfrm>
          <a:prstGeom prst="rect">
            <a:avLst/>
          </a:prstGeom>
          <a:noFill/>
        </p:spPr>
        <p:txBody>
          <a:bodyPr wrap="none" lIns="13716" rIns="13716" tIns="13716" bIns="13716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rial"/>
              </a:rPr>
              <a:t>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992624" y="4818888"/>
            <a:ext cx="2423160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950" b="0">
                <a:solidFill>
                  <a:srgbClr val="F5F7FA"/>
                </a:solidFill>
                <a:latin typeface="SF Pro Display"/>
              </a:rPr>
              <a:t>Checkpoint completion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238744" y="3246120"/>
            <a:ext cx="3529584" cy="1874519"/>
          </a:xfrm>
          <a:prstGeom prst="roundRect">
            <a:avLst>
              <a:gd name="adj" fmla="val 8000"/>
            </a:avLst>
          </a:prstGeom>
          <a:solidFill>
            <a:srgbClr val="14181E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494776" y="3511296"/>
            <a:ext cx="1554480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900" b="1">
                <a:solidFill>
                  <a:srgbClr val="F5BA48"/>
                </a:solidFill>
                <a:latin typeface="SF Mono"/>
              </a:rPr>
              <a:t>VALIDATE NEXT</a:t>
            </a:r>
          </a:p>
        </p:txBody>
      </p:sp>
      <p:sp>
        <p:nvSpPr>
          <p:cNvPr id="72" name="Oval 71"/>
          <p:cNvSpPr/>
          <p:nvPr/>
        </p:nvSpPr>
        <p:spPr>
          <a:xfrm>
            <a:off x="8522208" y="3831336"/>
            <a:ext cx="164592" cy="164592"/>
          </a:xfrm>
          <a:prstGeom prst="ellipse">
            <a:avLst/>
          </a:prstGeom>
          <a:solidFill>
            <a:srgbClr val="181C22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533729" y="3852732"/>
            <a:ext cx="141549" cy="118506"/>
          </a:xfrm>
          <a:prstGeom prst="rect">
            <a:avLst/>
          </a:prstGeom>
          <a:noFill/>
        </p:spPr>
        <p:txBody>
          <a:bodyPr wrap="none" lIns="13716" rIns="13716" tIns="13716" bIns="13716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rial"/>
              </a:rPr>
              <a:t>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814816" y="3831336"/>
            <a:ext cx="2423160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950" b="0">
                <a:solidFill>
                  <a:srgbClr val="F5F7FA"/>
                </a:solidFill>
                <a:latin typeface="SF Pro Display"/>
              </a:rPr>
              <a:t>Snapdragon NPU latency</a:t>
            </a:r>
          </a:p>
        </p:txBody>
      </p:sp>
      <p:sp>
        <p:nvSpPr>
          <p:cNvPr id="75" name="Oval 74"/>
          <p:cNvSpPr/>
          <p:nvPr/>
        </p:nvSpPr>
        <p:spPr>
          <a:xfrm>
            <a:off x="8522208" y="4078224"/>
            <a:ext cx="164592" cy="164592"/>
          </a:xfrm>
          <a:prstGeom prst="ellipse">
            <a:avLst/>
          </a:prstGeom>
          <a:solidFill>
            <a:srgbClr val="181C22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533729" y="4099620"/>
            <a:ext cx="141549" cy="118506"/>
          </a:xfrm>
          <a:prstGeom prst="rect">
            <a:avLst/>
          </a:prstGeom>
          <a:noFill/>
        </p:spPr>
        <p:txBody>
          <a:bodyPr wrap="none" lIns="13716" rIns="13716" tIns="13716" bIns="13716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rial"/>
              </a:rPr>
              <a:t>✓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814816" y="4078224"/>
            <a:ext cx="2423160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950" b="0">
                <a:solidFill>
                  <a:srgbClr val="F5F7FA"/>
                </a:solidFill>
                <a:latin typeface="SF Pro Display"/>
              </a:rPr>
              <a:t>Memory + utilization</a:t>
            </a:r>
          </a:p>
        </p:txBody>
      </p:sp>
      <p:sp>
        <p:nvSpPr>
          <p:cNvPr id="78" name="Oval 77"/>
          <p:cNvSpPr/>
          <p:nvPr/>
        </p:nvSpPr>
        <p:spPr>
          <a:xfrm>
            <a:off x="8522208" y="4325112"/>
            <a:ext cx="164592" cy="164592"/>
          </a:xfrm>
          <a:prstGeom prst="ellipse">
            <a:avLst/>
          </a:prstGeom>
          <a:solidFill>
            <a:srgbClr val="181C22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533729" y="4346508"/>
            <a:ext cx="141549" cy="118506"/>
          </a:xfrm>
          <a:prstGeom prst="rect">
            <a:avLst/>
          </a:prstGeom>
          <a:noFill/>
        </p:spPr>
        <p:txBody>
          <a:bodyPr wrap="none" lIns="13716" rIns="13716" tIns="13716" bIns="13716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rial"/>
              </a:rPr>
              <a:t>✓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14816" y="4325112"/>
            <a:ext cx="2423160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950" b="0">
                <a:solidFill>
                  <a:srgbClr val="F5F7FA"/>
                </a:solidFill>
                <a:latin typeface="SF Pro Display"/>
              </a:rPr>
              <a:t>Power / thermal</a:t>
            </a:r>
          </a:p>
        </p:txBody>
      </p:sp>
      <p:sp>
        <p:nvSpPr>
          <p:cNvPr id="81" name="Oval 80"/>
          <p:cNvSpPr/>
          <p:nvPr/>
        </p:nvSpPr>
        <p:spPr>
          <a:xfrm>
            <a:off x="8522208" y="4572000"/>
            <a:ext cx="164592" cy="164592"/>
          </a:xfrm>
          <a:prstGeom prst="ellipse">
            <a:avLst/>
          </a:prstGeom>
          <a:solidFill>
            <a:srgbClr val="181C22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533729" y="4593396"/>
            <a:ext cx="141549" cy="118506"/>
          </a:xfrm>
          <a:prstGeom prst="rect">
            <a:avLst/>
          </a:prstGeom>
          <a:noFill/>
        </p:spPr>
        <p:txBody>
          <a:bodyPr wrap="none" lIns="13716" rIns="13716" tIns="13716" bIns="13716" anchor="ctr">
            <a:spAutoFit/>
          </a:bodyPr>
          <a:lstStyle/>
          <a:p>
            <a:pPr algn="ctr"/>
            <a:r>
              <a:rPr sz="1200" b="1">
                <a:solidFill>
                  <a:srgbClr val="F5F7FA"/>
                </a:solidFill>
                <a:latin typeface="Arial"/>
              </a:rPr>
              <a:t>✓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814816" y="4572000"/>
            <a:ext cx="2423160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950" b="0">
                <a:solidFill>
                  <a:srgbClr val="F5F7FA"/>
                </a:solidFill>
                <a:latin typeface="SF Pro Display"/>
              </a:rPr>
              <a:t>Offline success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94360" y="5413248"/>
            <a:ext cx="10927080" cy="658368"/>
          </a:xfrm>
          <a:prstGeom prst="roundRect">
            <a:avLst>
              <a:gd name="adj" fmla="val 8000"/>
            </a:avLst>
          </a:prstGeom>
          <a:solidFill>
            <a:srgbClr val="0C1814"/>
          </a:solidFill>
          <a:ln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68680" y="5605272"/>
            <a:ext cx="1234440" cy="164592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800" b="1">
                <a:solidFill>
                  <a:srgbClr val="45DD91"/>
                </a:solidFill>
                <a:latin typeface="SF Mono"/>
              </a:rPr>
              <a:t>EXECUTIVE LENS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267712" y="5541264"/>
            <a:ext cx="8823960" cy="27432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  <a:latin typeface="SF Pro Display"/>
              </a:rPr>
              <a:t>Does the workflow reduce context reconstruction — and can the edge path prove measurable benefit?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9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6217920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900" b="1">
                <a:solidFill>
                  <a:srgbClr val="45DD91"/>
                </a:solidFill>
                <a:latin typeface="SF Mono"/>
              </a:rPr>
              <a:t>05  /  ROADMAP &amp;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12648"/>
            <a:ext cx="10789920" cy="566928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2500" b="1">
                <a:solidFill>
                  <a:srgbClr val="F5F7FA"/>
                </a:solidFill>
                <a:latin typeface="SF Pro Display"/>
              </a:rPr>
              <a:t>A focused product today. A measurable edge-AI path tomorrow.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70432"/>
            <a:ext cx="10881360" cy="32004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200" b="0">
                <a:solidFill>
                  <a:srgbClr val="A5ADB8"/>
                </a:solidFill>
                <a:latin typeface="SF Pro Display"/>
              </a:rPr>
              <a:t>The strongest submission story is not 'everything is finished'; it is a credible product with a disciplined validation 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73952"/>
            <a:ext cx="5120640" cy="164592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800" b="1">
                <a:solidFill>
                  <a:srgbClr val="5B6470"/>
                </a:solidFill>
                <a:latin typeface="SF Mono"/>
              </a:rPr>
              <a:t>CODESYNC-AI  /  SOLUTION SUBMISSION  / 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37960" y="6473952"/>
            <a:ext cx="5074920" cy="164592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r"/>
            <a:r>
              <a:rPr sz="800" b="0">
                <a:solidFill>
                  <a:srgbClr val="5B6470"/>
                </a:solidFill>
                <a:latin typeface="SF Mono"/>
              </a:rPr>
              <a:t>Repo-grounded • verified / wired / next clearly separated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600200"/>
            <a:ext cx="2395728" cy="1965960"/>
          </a:xfrm>
          <a:prstGeom prst="roundRect">
            <a:avLst>
              <a:gd name="adj" fmla="val 8000"/>
            </a:avLst>
          </a:prstGeom>
          <a:solidFill>
            <a:srgbClr val="0F1217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1847088"/>
            <a:ext cx="621792" cy="256032"/>
          </a:xfrm>
          <a:prstGeom prst="roundRect">
            <a:avLst>
              <a:gd name="adj" fmla="val 8000"/>
            </a:avLst>
          </a:prstGeom>
          <a:solidFill>
            <a:srgbClr val="181C22"/>
          </a:solidFill>
          <a:ln>
            <a:solidFill>
              <a:srgbClr val="181C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888236"/>
            <a:ext cx="621792" cy="146304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ctr"/>
            <a:r>
              <a:rPr sz="700" b="1">
                <a:solidFill>
                  <a:srgbClr val="45DD91"/>
                </a:solidFill>
                <a:latin typeface="SF Mono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258568"/>
            <a:ext cx="1874519" cy="4114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  <a:latin typeface="SF Pro Display"/>
              </a:rPr>
              <a:t>OFFLINE WORKSPACE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761488"/>
            <a:ext cx="1874519" cy="50292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950" b="0">
                <a:solidFill>
                  <a:srgbClr val="A5ADB8"/>
                </a:solidFill>
                <a:latin typeface="SF Pro Display"/>
              </a:rPr>
              <a:t>lesson + OCR + trace + practice + run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17520" y="2578608"/>
            <a:ext cx="402336" cy="0"/>
          </a:xfrm>
          <a:prstGeom prst="line">
            <a:avLst/>
          </a:prstGeom>
          <a:ln w="17780">
            <a:solidFill>
              <a:srgbClr val="2D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145536" y="2350008"/>
            <a:ext cx="228600" cy="27432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ctr"/>
            <a:r>
              <a:rPr sz="1500" b="1">
                <a:solidFill>
                  <a:srgbClr val="5B6470"/>
                </a:solidFill>
                <a:latin typeface="SF Mono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9856" y="1600200"/>
            <a:ext cx="2395728" cy="1965960"/>
          </a:xfrm>
          <a:prstGeom prst="roundRect">
            <a:avLst>
              <a:gd name="adj" fmla="val 8000"/>
            </a:avLst>
          </a:prstGeom>
          <a:solidFill>
            <a:srgbClr val="0F1217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39312" y="1847088"/>
            <a:ext cx="621792" cy="256032"/>
          </a:xfrm>
          <a:prstGeom prst="roundRect">
            <a:avLst>
              <a:gd name="adj" fmla="val 8000"/>
            </a:avLst>
          </a:prstGeom>
          <a:solidFill>
            <a:srgbClr val="181C22"/>
          </a:solidFill>
          <a:ln>
            <a:solidFill>
              <a:srgbClr val="181C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39312" y="1888236"/>
            <a:ext cx="621792" cy="146304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ctr"/>
            <a:r>
              <a:rPr sz="700" b="1">
                <a:solidFill>
                  <a:srgbClr val="F5BA48"/>
                </a:solidFill>
                <a:latin typeface="SF Mono"/>
              </a:rPr>
              <a:t>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2258568"/>
            <a:ext cx="1874519" cy="4114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  <a:latin typeface="SF Pro Display"/>
              </a:rPr>
              <a:t>SNAPDRAGON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9312" y="2761488"/>
            <a:ext cx="1874519" cy="50292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950" b="0">
                <a:solidFill>
                  <a:srgbClr val="A5ADB8"/>
                </a:solidFill>
                <a:latin typeface="SF Pro Display"/>
              </a:rPr>
              <a:t>QNN / NPU correctness + benchmark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15584" y="2578608"/>
            <a:ext cx="402336" cy="0"/>
          </a:xfrm>
          <a:prstGeom prst="line">
            <a:avLst/>
          </a:prstGeom>
          <a:ln w="17780">
            <a:solidFill>
              <a:srgbClr val="2D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943600" y="2350008"/>
            <a:ext cx="228600" cy="27432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ctr"/>
            <a:r>
              <a:rPr sz="1500" b="1">
                <a:solidFill>
                  <a:srgbClr val="5B6470"/>
                </a:solidFill>
                <a:latin typeface="SF Mono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600200"/>
            <a:ext cx="2395728" cy="1965960"/>
          </a:xfrm>
          <a:prstGeom prst="roundRect">
            <a:avLst>
              <a:gd name="adj" fmla="val 8000"/>
            </a:avLst>
          </a:prstGeom>
          <a:solidFill>
            <a:srgbClr val="0F1217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37376" y="1847088"/>
            <a:ext cx="621792" cy="256032"/>
          </a:xfrm>
          <a:prstGeom prst="roundRect">
            <a:avLst>
              <a:gd name="adj" fmla="val 8000"/>
            </a:avLst>
          </a:prstGeom>
          <a:solidFill>
            <a:srgbClr val="181C22"/>
          </a:solidFill>
          <a:ln>
            <a:solidFill>
              <a:srgbClr val="181C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7376" y="1888236"/>
            <a:ext cx="621792" cy="146304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ctr"/>
            <a:r>
              <a:rPr sz="700" b="1">
                <a:solidFill>
                  <a:srgbClr val="5AA0FF"/>
                </a:solidFill>
                <a:latin typeface="SF Mono"/>
              </a:rPr>
              <a:t>THEN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2258568"/>
            <a:ext cx="1874519" cy="4114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  <a:latin typeface="SF Pro Display"/>
              </a:rPr>
              <a:t>MODEL OPTIMIZATION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2761488"/>
            <a:ext cx="1874519" cy="50292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950" b="0">
                <a:solidFill>
                  <a:srgbClr val="A5ADB8"/>
                </a:solidFill>
                <a:latin typeface="SF Pro Display"/>
              </a:rPr>
              <a:t>OCR • embeddings • transcription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13648" y="2578608"/>
            <a:ext cx="402336" cy="0"/>
          </a:xfrm>
          <a:prstGeom prst="line">
            <a:avLst/>
          </a:prstGeom>
          <a:ln w="17780">
            <a:solidFill>
              <a:srgbClr val="2D3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741663" y="2350008"/>
            <a:ext cx="228600" cy="27432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ctr"/>
            <a:r>
              <a:rPr sz="1500" b="1">
                <a:solidFill>
                  <a:srgbClr val="5B6470"/>
                </a:solidFill>
                <a:latin typeface="SF Mono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15984" y="1600200"/>
            <a:ext cx="2395728" cy="1965960"/>
          </a:xfrm>
          <a:prstGeom prst="roundRect">
            <a:avLst>
              <a:gd name="adj" fmla="val 8000"/>
            </a:avLst>
          </a:prstGeom>
          <a:solidFill>
            <a:srgbClr val="0F1217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35440" y="1847088"/>
            <a:ext cx="621792" cy="256032"/>
          </a:xfrm>
          <a:prstGeom prst="roundRect">
            <a:avLst>
              <a:gd name="adj" fmla="val 8000"/>
            </a:avLst>
          </a:prstGeom>
          <a:solidFill>
            <a:srgbClr val="181C22"/>
          </a:solidFill>
          <a:ln>
            <a:solidFill>
              <a:srgbClr val="181C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1888236"/>
            <a:ext cx="621792" cy="146304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ctr"/>
            <a:r>
              <a:rPr sz="700" b="1">
                <a:solidFill>
                  <a:srgbClr val="F5F7FA"/>
                </a:solidFill>
                <a:latin typeface="SF Mono"/>
              </a:rPr>
              <a:t>EXPAND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258568"/>
            <a:ext cx="1874519" cy="4114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  <a:latin typeface="SF Pro Display"/>
              </a:rPr>
              <a:t>LOCAL ASSISTANCE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2761488"/>
            <a:ext cx="1874519" cy="50292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950" b="0">
                <a:solidFill>
                  <a:srgbClr val="A5ADB8"/>
                </a:solidFill>
                <a:latin typeface="SF Pro Display"/>
              </a:rPr>
              <a:t>small on-device model + richer guidance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" y="3977639"/>
            <a:ext cx="10972800" cy="1463040"/>
          </a:xfrm>
          <a:prstGeom prst="roundRect">
            <a:avLst>
              <a:gd name="adj" fmla="val 8000"/>
            </a:avLst>
          </a:prstGeom>
          <a:solidFill>
            <a:srgbClr val="14181E"/>
          </a:solidFill>
          <a:ln>
            <a:solidFill>
              <a:srgbClr val="2D3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279392"/>
            <a:ext cx="4937760" cy="32004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2100" b="1">
                <a:solidFill>
                  <a:srgbClr val="45DD91"/>
                </a:solidFill>
                <a:latin typeface="SF Pro Display"/>
              </a:rPr>
              <a:t>ONE SCREEN. ZERO ALT-TABS.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709160"/>
            <a:ext cx="2286000" cy="22860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  <a:latin typeface="SF Pro Display"/>
              </a:rPr>
              <a:t>AI understands the code.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4709160"/>
            <a:ext cx="2926080" cy="22860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  <a:latin typeface="SF Pro Display"/>
              </a:rPr>
              <a:t>Edge AI keeps assistance close.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709160"/>
            <a:ext cx="2743200" cy="22860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1200" b="1">
                <a:solidFill>
                  <a:srgbClr val="F5F7FA"/>
                </a:solidFill>
                <a:latin typeface="SF Pro Display"/>
              </a:rPr>
              <a:t>Humans remain in control.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4279392"/>
            <a:ext cx="1508760" cy="164592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800" b="1">
                <a:solidFill>
                  <a:srgbClr val="F5BA48"/>
                </a:solidFill>
                <a:latin typeface="SF Mono"/>
              </a:rPr>
              <a:t>SUBMISSION PRINCIPLE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4599432"/>
            <a:ext cx="1554480" cy="45720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900" b="0">
                <a:solidFill>
                  <a:srgbClr val="A5ADB8"/>
                </a:solidFill>
                <a:latin typeface="SF Mono"/>
              </a:rPr>
              <a:t>Verified ≠ roadmap.
Measure before claiming.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833872"/>
            <a:ext cx="8229600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l"/>
            <a:r>
              <a:rPr sz="800" b="0">
                <a:solidFill>
                  <a:srgbClr val="5B6470"/>
                </a:solidFill>
                <a:latin typeface="SF Mono"/>
              </a:rPr>
              <a:t>Repository: github.com/kartiksaxena-max/CodeSync-AI-One-Screen-Zero-Alt-Tabs-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5833872"/>
            <a:ext cx="3246120" cy="182880"/>
          </a:xfrm>
          <a:prstGeom prst="rect">
            <a:avLst/>
          </a:prstGeom>
          <a:noFill/>
        </p:spPr>
        <p:txBody>
          <a:bodyPr wrap="none" lIns="13716" rIns="13716" tIns="13716" bIns="13716" anchor="t">
            <a:spAutoFit/>
          </a:bodyPr>
          <a:lstStyle/>
          <a:p>
            <a:pPr algn="r"/>
            <a:r>
              <a:rPr sz="800" b="0">
                <a:solidFill>
                  <a:srgbClr val="5B6470"/>
                </a:solidFill>
                <a:latin typeface="SF Mono"/>
              </a:rPr>
              <a:t>Qualcomm AI Hub → on-device deployment / profiling path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